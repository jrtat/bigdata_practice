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46"/>
  </p:notesMasterIdLst>
  <p:handoutMasterIdLst>
    <p:handoutMasterId r:id="rId47"/>
  </p:handoutMasterIdLst>
  <p:sldIdLst>
    <p:sldId id="256" r:id="rId5"/>
    <p:sldId id="258" r:id="rId6"/>
    <p:sldId id="265" r:id="rId7"/>
    <p:sldId id="273" r:id="rId8"/>
    <p:sldId id="264" r:id="rId9"/>
    <p:sldId id="261" r:id="rId10"/>
    <p:sldId id="274" r:id="rId11"/>
    <p:sldId id="257" r:id="rId12"/>
    <p:sldId id="260" r:id="rId13"/>
    <p:sldId id="271" r:id="rId14"/>
    <p:sldId id="272" r:id="rId15"/>
    <p:sldId id="263" r:id="rId16"/>
    <p:sldId id="278" r:id="rId17"/>
    <p:sldId id="295" r:id="rId18"/>
    <p:sldId id="279" r:id="rId19"/>
    <p:sldId id="280" r:id="rId20"/>
    <p:sldId id="281" r:id="rId21"/>
    <p:sldId id="282" r:id="rId22"/>
    <p:sldId id="283" r:id="rId23"/>
    <p:sldId id="294" r:id="rId24"/>
    <p:sldId id="296" r:id="rId25"/>
    <p:sldId id="284" r:id="rId26"/>
    <p:sldId id="285" r:id="rId27"/>
    <p:sldId id="287" r:id="rId28"/>
    <p:sldId id="286" r:id="rId29"/>
    <p:sldId id="288" r:id="rId30"/>
    <p:sldId id="289" r:id="rId31"/>
    <p:sldId id="290" r:id="rId32"/>
    <p:sldId id="291" r:id="rId33"/>
    <p:sldId id="292" r:id="rId34"/>
    <p:sldId id="293" r:id="rId35"/>
    <p:sldId id="259" r:id="rId36"/>
    <p:sldId id="266" r:id="rId37"/>
    <p:sldId id="262" r:id="rId38"/>
    <p:sldId id="267" r:id="rId39"/>
    <p:sldId id="268" r:id="rId40"/>
    <p:sldId id="277" r:id="rId41"/>
    <p:sldId id="269" r:id="rId42"/>
    <p:sldId id="270" r:id="rId43"/>
    <p:sldId id="276" r:id="rId44"/>
    <p:sldId id="275" r:id="rId45"/>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作者" initials="A" lastIdx="0" clrIdx="3"/>
  <p:cmAuthor id="5" name="刘舜" initials="刘舜" lastIdx="1" clrIdx="4">
    <p:extLst>
      <p:ext uri="{19B8F6BF-5375-455C-9EA6-DF929625EA0E}">
        <p15:presenceInfo xmlns:p15="http://schemas.microsoft.com/office/powerpoint/2012/main" userId="刘舜"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39" autoAdjust="0"/>
  </p:normalViewPr>
  <p:slideViewPr>
    <p:cSldViewPr snapToGrid="0">
      <p:cViewPr varScale="1">
        <p:scale>
          <a:sx n="75" d="100"/>
          <a:sy n="75" d="100"/>
        </p:scale>
        <p:origin x="792" y="45"/>
      </p:cViewPr>
      <p:guideLst>
        <p:guide orient="horz" pos="33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4620" y="102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3" name="日期占位符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1BCF7363-46B3-4791-B1F1-74C9C73C71E6}" type="datetime1">
              <a:rPr lang="zh-CN" altLang="en-US" smtClean="0">
                <a:latin typeface="Microsoft YaHei UI" panose="020B0503020204020204" pitchFamily="34" charset="-122"/>
                <a:ea typeface="Microsoft YaHei UI" panose="020B0503020204020204" pitchFamily="34" charset="-122"/>
              </a:rPr>
              <a:t>2026/5/27</a:t>
            </a:fld>
            <a:endParaRPr lang="zh-CN" altLang="en-US">
              <a:latin typeface="Microsoft YaHei UI" panose="020B0503020204020204" pitchFamily="34" charset="-122"/>
              <a:ea typeface="Microsoft YaHei UI" panose="020B0503020204020204" pitchFamily="34" charset="-122"/>
            </a:endParaRPr>
          </a:p>
        </p:txBody>
      </p:sp>
      <p:sp>
        <p:nvSpPr>
          <p:cNvPr id="4" name="页脚占位符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n-US" altLang="zh-CN"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651558A8-E2C3-4D4F-B74A-F34DB9A5CC63}" type="datetime1">
              <a:rPr lang="zh-CN" altLang="en-US" noProof="0" smtClean="0"/>
              <a:t>2026/5/27</a:t>
            </a:fld>
            <a:endParaRPr lang="zh-CN" altLang="en-US" noProof="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D4B9A9E5-4F7F-4A7D-9DE1-899232329269}" type="slidenum">
              <a:rPr lang="en-US" altLang="zh-CN" noProof="0" smtClean="0"/>
              <a:pPr/>
              <a:t>‹#›</a:t>
            </a:fld>
            <a:endParaRPr lang="zh-CN" altLang="en-US"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pPr rtl="0"/>
            <a:fld id="{D4B9A9E5-4F7F-4A7D-9DE1-899232329269}" type="slidenum">
              <a:rPr lang="en-US" altLang="zh-CN" smtClean="0">
                <a:latin typeface="Microsoft YaHei UI" panose="020B0503020204020204" pitchFamily="34" charset="-122"/>
                <a:ea typeface="Microsoft YaHei UI" panose="020B0503020204020204" pitchFamily="34" charset="-122"/>
              </a:rPr>
              <a:t>1</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390056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6</a:t>
            </a:fld>
            <a:endParaRPr lang="zh-CN" altLang="en-US" noProof="0"/>
          </a:p>
        </p:txBody>
      </p:sp>
    </p:spTree>
    <p:extLst>
      <p:ext uri="{BB962C8B-B14F-4D97-AF65-F5344CB8AC3E}">
        <p14:creationId xmlns:p14="http://schemas.microsoft.com/office/powerpoint/2010/main" val="2440340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7</a:t>
            </a:fld>
            <a:endParaRPr lang="zh-CN" altLang="en-US" noProof="0"/>
          </a:p>
        </p:txBody>
      </p:sp>
    </p:spTree>
    <p:extLst>
      <p:ext uri="{BB962C8B-B14F-4D97-AF65-F5344CB8AC3E}">
        <p14:creationId xmlns:p14="http://schemas.microsoft.com/office/powerpoint/2010/main" val="9981290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13</a:t>
            </a:fld>
            <a:endParaRPr lang="zh-CN" altLang="en-US" noProof="0"/>
          </a:p>
        </p:txBody>
      </p:sp>
    </p:spTree>
    <p:extLst>
      <p:ext uri="{BB962C8B-B14F-4D97-AF65-F5344CB8AC3E}">
        <p14:creationId xmlns:p14="http://schemas.microsoft.com/office/powerpoint/2010/main" val="3521976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14</a:t>
            </a:fld>
            <a:endParaRPr lang="zh-CN" altLang="en-US" noProof="0"/>
          </a:p>
        </p:txBody>
      </p:sp>
    </p:spTree>
    <p:extLst>
      <p:ext uri="{BB962C8B-B14F-4D97-AF65-F5344CB8AC3E}">
        <p14:creationId xmlns:p14="http://schemas.microsoft.com/office/powerpoint/2010/main" val="15526394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15</a:t>
            </a:fld>
            <a:endParaRPr lang="zh-CN" altLang="en-US" noProof="0"/>
          </a:p>
        </p:txBody>
      </p:sp>
    </p:spTree>
    <p:extLst>
      <p:ext uri="{BB962C8B-B14F-4D97-AF65-F5344CB8AC3E}">
        <p14:creationId xmlns:p14="http://schemas.microsoft.com/office/powerpoint/2010/main" val="10072316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16</a:t>
            </a:fld>
            <a:endParaRPr lang="zh-CN" altLang="en-US" noProof="0"/>
          </a:p>
        </p:txBody>
      </p:sp>
    </p:spTree>
    <p:extLst>
      <p:ext uri="{BB962C8B-B14F-4D97-AF65-F5344CB8AC3E}">
        <p14:creationId xmlns:p14="http://schemas.microsoft.com/office/powerpoint/2010/main" val="39845980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17</a:t>
            </a:fld>
            <a:endParaRPr lang="zh-CN" altLang="en-US" noProof="0"/>
          </a:p>
        </p:txBody>
      </p:sp>
    </p:spTree>
    <p:extLst>
      <p:ext uri="{BB962C8B-B14F-4D97-AF65-F5344CB8AC3E}">
        <p14:creationId xmlns:p14="http://schemas.microsoft.com/office/powerpoint/2010/main" val="3592600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18</a:t>
            </a:fld>
            <a:endParaRPr lang="zh-CN" altLang="en-US" noProof="0"/>
          </a:p>
        </p:txBody>
      </p:sp>
    </p:spTree>
    <p:extLst>
      <p:ext uri="{BB962C8B-B14F-4D97-AF65-F5344CB8AC3E}">
        <p14:creationId xmlns:p14="http://schemas.microsoft.com/office/powerpoint/2010/main" val="583395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19</a:t>
            </a:fld>
            <a:endParaRPr lang="zh-CN" altLang="en-US" noProof="0"/>
          </a:p>
        </p:txBody>
      </p:sp>
    </p:spTree>
    <p:extLst>
      <p:ext uri="{BB962C8B-B14F-4D97-AF65-F5344CB8AC3E}">
        <p14:creationId xmlns:p14="http://schemas.microsoft.com/office/powerpoint/2010/main" val="2404619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20</a:t>
            </a:fld>
            <a:endParaRPr lang="zh-CN" altLang="en-US" noProof="0"/>
          </a:p>
        </p:txBody>
      </p:sp>
    </p:spTree>
    <p:extLst>
      <p:ext uri="{BB962C8B-B14F-4D97-AF65-F5344CB8AC3E}">
        <p14:creationId xmlns:p14="http://schemas.microsoft.com/office/powerpoint/2010/main" val="2712084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21</a:t>
            </a:fld>
            <a:endParaRPr lang="zh-CN" altLang="en-US" noProof="0"/>
          </a:p>
        </p:txBody>
      </p:sp>
    </p:spTree>
    <p:extLst>
      <p:ext uri="{BB962C8B-B14F-4D97-AF65-F5344CB8AC3E}">
        <p14:creationId xmlns:p14="http://schemas.microsoft.com/office/powerpoint/2010/main" val="17574036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22</a:t>
            </a:fld>
            <a:endParaRPr lang="zh-CN" altLang="en-US" noProof="0"/>
          </a:p>
        </p:txBody>
      </p:sp>
    </p:spTree>
    <p:extLst>
      <p:ext uri="{BB962C8B-B14F-4D97-AF65-F5344CB8AC3E}">
        <p14:creationId xmlns:p14="http://schemas.microsoft.com/office/powerpoint/2010/main" val="1449421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23</a:t>
            </a:fld>
            <a:endParaRPr lang="zh-CN" altLang="en-US" noProof="0"/>
          </a:p>
        </p:txBody>
      </p:sp>
    </p:spTree>
    <p:extLst>
      <p:ext uri="{BB962C8B-B14F-4D97-AF65-F5344CB8AC3E}">
        <p14:creationId xmlns:p14="http://schemas.microsoft.com/office/powerpoint/2010/main" val="28562141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24</a:t>
            </a:fld>
            <a:endParaRPr lang="zh-CN" altLang="en-US" noProof="0"/>
          </a:p>
        </p:txBody>
      </p:sp>
    </p:spTree>
    <p:extLst>
      <p:ext uri="{BB962C8B-B14F-4D97-AF65-F5344CB8AC3E}">
        <p14:creationId xmlns:p14="http://schemas.microsoft.com/office/powerpoint/2010/main" val="35624785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25</a:t>
            </a:fld>
            <a:endParaRPr lang="zh-CN" altLang="en-US" noProof="0"/>
          </a:p>
        </p:txBody>
      </p:sp>
    </p:spTree>
    <p:extLst>
      <p:ext uri="{BB962C8B-B14F-4D97-AF65-F5344CB8AC3E}">
        <p14:creationId xmlns:p14="http://schemas.microsoft.com/office/powerpoint/2010/main" val="31341110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26</a:t>
            </a:fld>
            <a:endParaRPr lang="zh-CN" altLang="en-US" noProof="0"/>
          </a:p>
        </p:txBody>
      </p:sp>
    </p:spTree>
    <p:extLst>
      <p:ext uri="{BB962C8B-B14F-4D97-AF65-F5344CB8AC3E}">
        <p14:creationId xmlns:p14="http://schemas.microsoft.com/office/powerpoint/2010/main" val="16565779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27</a:t>
            </a:fld>
            <a:endParaRPr lang="zh-CN" altLang="en-US" noProof="0"/>
          </a:p>
        </p:txBody>
      </p:sp>
    </p:spTree>
    <p:extLst>
      <p:ext uri="{BB962C8B-B14F-4D97-AF65-F5344CB8AC3E}">
        <p14:creationId xmlns:p14="http://schemas.microsoft.com/office/powerpoint/2010/main" val="12467248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28</a:t>
            </a:fld>
            <a:endParaRPr lang="zh-CN" altLang="en-US" noProof="0"/>
          </a:p>
        </p:txBody>
      </p:sp>
    </p:spTree>
    <p:extLst>
      <p:ext uri="{BB962C8B-B14F-4D97-AF65-F5344CB8AC3E}">
        <p14:creationId xmlns:p14="http://schemas.microsoft.com/office/powerpoint/2010/main" val="42367042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29</a:t>
            </a:fld>
            <a:endParaRPr lang="zh-CN" altLang="en-US" noProof="0"/>
          </a:p>
        </p:txBody>
      </p:sp>
    </p:spTree>
    <p:extLst>
      <p:ext uri="{BB962C8B-B14F-4D97-AF65-F5344CB8AC3E}">
        <p14:creationId xmlns:p14="http://schemas.microsoft.com/office/powerpoint/2010/main" val="36523055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30</a:t>
            </a:fld>
            <a:endParaRPr lang="zh-CN" altLang="en-US" noProof="0"/>
          </a:p>
        </p:txBody>
      </p:sp>
    </p:spTree>
    <p:extLst>
      <p:ext uri="{BB962C8B-B14F-4D97-AF65-F5344CB8AC3E}">
        <p14:creationId xmlns:p14="http://schemas.microsoft.com/office/powerpoint/2010/main" val="14475695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31</a:t>
            </a:fld>
            <a:endParaRPr lang="zh-CN" altLang="en-US" noProof="0"/>
          </a:p>
        </p:txBody>
      </p:sp>
    </p:spTree>
    <p:extLst>
      <p:ext uri="{BB962C8B-B14F-4D97-AF65-F5344CB8AC3E}">
        <p14:creationId xmlns:p14="http://schemas.microsoft.com/office/powerpoint/2010/main" val="8251786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必须事先在本机运行</a:t>
            </a:r>
            <a:r>
              <a:rPr lang="en-US" altLang="zh-CN" dirty="0" err="1"/>
              <a:t>SpringBoot</a:t>
            </a:r>
            <a:r>
              <a:rPr lang="zh-CN" altLang="en-US" dirty="0"/>
              <a:t>程序，才能通过点击该界面的链接跳转。</a:t>
            </a:r>
          </a:p>
        </p:txBody>
      </p:sp>
      <p:sp>
        <p:nvSpPr>
          <p:cNvPr id="4" name="灯片编号占位符 3"/>
          <p:cNvSpPr>
            <a:spLocks noGrp="1"/>
          </p:cNvSpPr>
          <p:nvPr>
            <p:ph type="sldNum" sz="quarter" idx="5"/>
          </p:nvPr>
        </p:nvSpPr>
        <p:spPr/>
        <p:txBody>
          <a:bodyPr/>
          <a:lstStyle/>
          <a:p>
            <a:fld id="{D4B9A9E5-4F7F-4A7D-9DE1-899232329269}" type="slidenum">
              <a:rPr lang="en-US" altLang="zh-CN" noProof="0" smtClean="0"/>
              <a:pPr/>
              <a:t>32</a:t>
            </a:fld>
            <a:endParaRPr lang="zh-CN" altLang="en-US" noProof="0"/>
          </a:p>
        </p:txBody>
      </p:sp>
    </p:spTree>
    <p:extLst>
      <p:ext uri="{BB962C8B-B14F-4D97-AF65-F5344CB8AC3E}">
        <p14:creationId xmlns:p14="http://schemas.microsoft.com/office/powerpoint/2010/main" val="7723742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2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accent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rtl="0"/>
            <a:r>
              <a:rPr lang="zh-CN" altLang="en-US" noProof="0"/>
              <a:t>单击以编辑模板标题样式</a:t>
            </a:r>
          </a:p>
        </p:txBody>
      </p:sp>
      <p:sp>
        <p:nvSpPr>
          <p:cNvPr id="3" name="副标题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6416041" y="5586890"/>
            <a:ext cx="4941770" cy="396660"/>
          </a:xfrm>
        </p:spPr>
        <p:txBody>
          <a:bodyPr rtlCol="0">
            <a:normAutofit/>
          </a:bodyPr>
          <a:lstStyle>
            <a:lvl1pPr marL="0" indent="0" algn="l">
              <a:lnSpc>
                <a:spcPct val="100000"/>
              </a:lnSpc>
              <a:buNone/>
              <a:defRPr sz="160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zh-CN" altLang="en-US" noProof="0"/>
              <a:t>单击以编辑母版副标题样式</a:t>
            </a:r>
          </a:p>
        </p:txBody>
      </p:sp>
      <p:pic>
        <p:nvPicPr>
          <p:cNvPr id="8" name="图形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议程​​">
    <p:bg>
      <p:bgPr>
        <a:solidFill>
          <a:schemeClr val="bg1"/>
        </a:solidFill>
        <a:effectLst/>
      </p:bgPr>
    </p:bg>
    <p:spTree>
      <p:nvGrpSpPr>
        <p:cNvPr id="1" name=""/>
        <p:cNvGrpSpPr/>
        <p:nvPr/>
      </p:nvGrpSpPr>
      <p:grpSpPr>
        <a:xfrm>
          <a:off x="0" y="0"/>
          <a:ext cx="0" cy="0"/>
          <a:chOff x="0" y="0"/>
          <a:chExt cx="0" cy="0"/>
        </a:xfrm>
      </p:grpSpPr>
      <p:pic>
        <p:nvPicPr>
          <p:cNvPr id="8" name="图形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标题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rtl="0"/>
            <a:r>
              <a:rPr lang="zh-CN" altLang="en-US" noProof="0"/>
              <a:t>单击以编辑模板标题样式</a:t>
            </a:r>
          </a:p>
        </p:txBody>
      </p:sp>
      <p:sp>
        <p:nvSpPr>
          <p:cNvPr id="3" name="内容占位符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20000"/>
              </a:lnSpc>
              <a:spcBef>
                <a:spcPts val="1000"/>
              </a:spcBef>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2pPr>
            <a:lvl3pPr marL="914400" indent="0">
              <a:lnSpc>
                <a:spcPct val="120000"/>
              </a:lnSpc>
              <a:spcBef>
                <a:spcPts val="1000"/>
              </a:spcBef>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3pPr>
            <a:lvl4pPr marL="1371600" indent="0">
              <a:lnSpc>
                <a:spcPct val="120000"/>
              </a:lnSpc>
              <a:spcBef>
                <a:spcPts val="1000"/>
              </a:spcBef>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4pPr>
            <a:lvl5pPr marL="1828800" indent="0">
              <a:lnSpc>
                <a:spcPct val="120000"/>
              </a:lnSpc>
              <a:spcBef>
                <a:spcPts val="1000"/>
              </a:spcBef>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p>
        </p:txBody>
      </p:sp>
      <p:sp>
        <p:nvSpPr>
          <p:cNvPr id="4" name="日期占位符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5" name="页脚占位符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6" name="幻灯片编号占位符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日程表">
    <p:spTree>
      <p:nvGrpSpPr>
        <p:cNvPr id="1" name=""/>
        <p:cNvGrpSpPr/>
        <p:nvPr/>
      </p:nvGrpSpPr>
      <p:grpSpPr>
        <a:xfrm>
          <a:off x="0" y="0"/>
          <a:ext cx="0" cy="0"/>
          <a:chOff x="0" y="0"/>
          <a:chExt cx="0" cy="0"/>
        </a:xfrm>
      </p:grpSpPr>
      <p:sp>
        <p:nvSpPr>
          <p:cNvPr id="12" name="图形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zh-CN" altLang="en-US" noProof="0">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单击此处编辑标题</a:t>
            </a:r>
          </a:p>
        </p:txBody>
      </p:sp>
      <p:sp>
        <p:nvSpPr>
          <p:cNvPr id="16" name="文本占位符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单击以编辑母版文本样式</a:t>
            </a:r>
          </a:p>
        </p:txBody>
      </p:sp>
      <p:sp>
        <p:nvSpPr>
          <p:cNvPr id="17" name="文本占位符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单击以编辑母版文本样式</a:t>
            </a:r>
          </a:p>
        </p:txBody>
      </p:sp>
      <p:sp>
        <p:nvSpPr>
          <p:cNvPr id="18" name="文本占位符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单击以编辑母版文本样式</a:t>
            </a:r>
          </a:p>
        </p:txBody>
      </p:sp>
      <p:sp>
        <p:nvSpPr>
          <p:cNvPr id="19" name="文本占位符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单击以编辑母版文本样式</a:t>
            </a:r>
          </a:p>
        </p:txBody>
      </p:sp>
      <p:sp>
        <p:nvSpPr>
          <p:cNvPr id="34" name="文本占位符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单击编辑主文本样式</a:t>
            </a:r>
          </a:p>
        </p:txBody>
      </p:sp>
      <p:sp>
        <p:nvSpPr>
          <p:cNvPr id="35" name="文本占位符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单击编辑主文本样式</a:t>
            </a:r>
          </a:p>
        </p:txBody>
      </p:sp>
      <p:sp>
        <p:nvSpPr>
          <p:cNvPr id="36" name="文本占位符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单击编辑主文本样式</a:t>
            </a:r>
          </a:p>
        </p:txBody>
      </p:sp>
      <p:sp>
        <p:nvSpPr>
          <p:cNvPr id="37" name="文本占位符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单击编辑主文本样式</a:t>
            </a:r>
          </a:p>
        </p:txBody>
      </p:sp>
      <p:cxnSp>
        <p:nvCxnSpPr>
          <p:cNvPr id="3" name="直接连接符​​(S)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直接连接符​​(S)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直接连接符​​(S)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直接连接符​​(S)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日期占位符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6" name="页脚占位符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rtlCol="0"/>
          <a:lstStyle>
            <a:lvl1pPr algn="l">
              <a:defRPr sz="900">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7" name="灯片编号占位符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 3 列">
    <p:bg>
      <p:bgPr>
        <a:solidFill>
          <a:schemeClr val="accent2"/>
        </a:solidFill>
        <a:effectLst/>
      </p:bgPr>
    </p:bg>
    <p:spTree>
      <p:nvGrpSpPr>
        <p:cNvPr id="1" name=""/>
        <p:cNvGrpSpPr/>
        <p:nvPr/>
      </p:nvGrpSpPr>
      <p:grpSpPr>
        <a:xfrm>
          <a:off x="0" y="0"/>
          <a:ext cx="0" cy="0"/>
          <a:chOff x="0" y="0"/>
          <a:chExt cx="0" cy="0"/>
        </a:xfrm>
      </p:grpSpPr>
      <p:sp>
        <p:nvSpPr>
          <p:cNvPr id="14" name="标题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p>
        </p:txBody>
      </p:sp>
      <p:sp>
        <p:nvSpPr>
          <p:cNvPr id="15" name="文本占位符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p>
        </p:txBody>
      </p:sp>
      <p:sp>
        <p:nvSpPr>
          <p:cNvPr id="17" name="文本占位符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p>
        </p:txBody>
      </p:sp>
      <p:sp>
        <p:nvSpPr>
          <p:cNvPr id="31" name="文本占位符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单击此处添加副标题</a:t>
            </a:r>
          </a:p>
        </p:txBody>
      </p:sp>
      <p:sp>
        <p:nvSpPr>
          <p:cNvPr id="32" name="文本占位符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p>
        </p:txBody>
      </p:sp>
      <p:sp>
        <p:nvSpPr>
          <p:cNvPr id="33" name="文本占位符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单击此处添加副标题</a:t>
            </a:r>
          </a:p>
        </p:txBody>
      </p:sp>
      <p:sp>
        <p:nvSpPr>
          <p:cNvPr id="34" name="文本占位符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p>
        </p:txBody>
      </p:sp>
      <p:sp>
        <p:nvSpPr>
          <p:cNvPr id="12" name="文本占位符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单击此处添加副标题</a:t>
            </a:r>
          </a:p>
        </p:txBody>
      </p:sp>
      <p:sp>
        <p:nvSpPr>
          <p:cNvPr id="13" name="文本占位符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p>
        </p:txBody>
      </p:sp>
      <p:sp>
        <p:nvSpPr>
          <p:cNvPr id="3" name="日期占位符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4" name="页脚占位符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lvl1pPr>
              <a:defRPr>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5" name="灯片编号占位符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lvl1pPr>
              <a:defRPr>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cxnSp>
        <p:nvCxnSpPr>
          <p:cNvPr id="2" name="直接连接符​​(S)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图形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图形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 2 列">
    <p:bg>
      <p:bgPr>
        <a:solidFill>
          <a:schemeClr val="bg1"/>
        </a:solidFill>
        <a:effectLst/>
      </p:bgPr>
    </p:bg>
    <p:spTree>
      <p:nvGrpSpPr>
        <p:cNvPr id="1" name=""/>
        <p:cNvGrpSpPr/>
        <p:nvPr/>
      </p:nvGrpSpPr>
      <p:grpSpPr>
        <a:xfrm>
          <a:off x="0" y="0"/>
          <a:ext cx="0" cy="0"/>
          <a:chOff x="0" y="0"/>
          <a:chExt cx="0" cy="0"/>
        </a:xfrm>
      </p:grpSpPr>
      <p:sp>
        <p:nvSpPr>
          <p:cNvPr id="14" name="标题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p>
        </p:txBody>
      </p:sp>
      <p:sp>
        <p:nvSpPr>
          <p:cNvPr id="15" name="文本占位符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p>
        </p:txBody>
      </p:sp>
      <p:sp>
        <p:nvSpPr>
          <p:cNvPr id="17" name="文本占位符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p>
        </p:txBody>
      </p:sp>
      <p:sp>
        <p:nvSpPr>
          <p:cNvPr id="16" name="文本占位符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p>
        </p:txBody>
      </p:sp>
      <p:sp>
        <p:nvSpPr>
          <p:cNvPr id="18" name="文本占位符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p>
        </p:txBody>
      </p:sp>
      <p:sp>
        <p:nvSpPr>
          <p:cNvPr id="19" name="文本占位符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p>
        </p:txBody>
      </p:sp>
      <p:sp>
        <p:nvSpPr>
          <p:cNvPr id="20" name="文本占位符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p>
        </p:txBody>
      </p:sp>
      <p:sp>
        <p:nvSpPr>
          <p:cNvPr id="23" name="文本占位符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p>
        </p:txBody>
      </p:sp>
      <p:sp>
        <p:nvSpPr>
          <p:cNvPr id="24" name="文本占位符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p>
        </p:txBody>
      </p:sp>
      <p:sp>
        <p:nvSpPr>
          <p:cNvPr id="3" name="日期占位符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4" name="页脚占位符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5" name="灯片编号占位符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pic>
        <p:nvPicPr>
          <p:cNvPr id="2" name="图形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简介">
    <p:bg>
      <p:bgPr>
        <a:solidFill>
          <a:schemeClr val="accent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p>
        </p:txBody>
      </p:sp>
      <p:sp>
        <p:nvSpPr>
          <p:cNvPr id="3" name="文本占位符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zh-CN" altLang="en-US" noProof="0"/>
              <a:t>单击此处编辑母版文本样式</a:t>
            </a:r>
          </a:p>
        </p:txBody>
      </p:sp>
      <p:cxnSp>
        <p:nvCxnSpPr>
          <p:cNvPr id="14" name="直接连接符​​(S)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S)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日期占位符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10" name="页脚占位符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11" name="幻灯片编号占位符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分节符">
    <p:bg>
      <p:bgPr>
        <a:solidFill>
          <a:schemeClr val="accent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rtl="0"/>
            <a:r>
              <a:rPr lang="zh-CN" altLang="en-US" noProof="0"/>
              <a:t>单击以编辑模板标题样式</a:t>
            </a:r>
          </a:p>
        </p:txBody>
      </p:sp>
      <p:pic>
        <p:nvPicPr>
          <p:cNvPr id="5" name="图形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引言">
    <p:spTree>
      <p:nvGrpSpPr>
        <p:cNvPr id="1" name=""/>
        <p:cNvGrpSpPr/>
        <p:nvPr/>
      </p:nvGrpSpPr>
      <p:grpSpPr>
        <a:xfrm>
          <a:off x="0" y="0"/>
          <a:ext cx="0" cy="0"/>
          <a:chOff x="0" y="0"/>
          <a:chExt cx="0" cy="0"/>
        </a:xfrm>
      </p:grpSpPr>
      <p:pic>
        <p:nvPicPr>
          <p:cNvPr id="7" name="图形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标题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p>
        </p:txBody>
      </p:sp>
      <p:cxnSp>
        <p:nvCxnSpPr>
          <p:cNvPr id="9" name="直接连接符​​(S)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文本占位符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p>
        </p:txBody>
      </p:sp>
      <p:sp>
        <p:nvSpPr>
          <p:cNvPr id="12" name="文本占位符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p>
        </p:txBody>
      </p:sp>
      <p:sp>
        <p:nvSpPr>
          <p:cNvPr id="13" name="文本占位符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p>
        </p:txBody>
      </p:sp>
      <p:sp>
        <p:nvSpPr>
          <p:cNvPr id="14" name="文本占位符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p>
        </p:txBody>
      </p:sp>
      <p:sp>
        <p:nvSpPr>
          <p:cNvPr id="15" name="文本占位符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p>
        </p:txBody>
      </p:sp>
      <p:sp>
        <p:nvSpPr>
          <p:cNvPr id="16" name="文本占位符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p>
        </p:txBody>
      </p:sp>
      <p:sp>
        <p:nvSpPr>
          <p:cNvPr id="17" name="日期占位符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18" name="页脚占位符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19" name="灯片编号占位符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三栏内容">
    <p:bg>
      <p:bgRef idx="1001">
        <a:schemeClr val="bg1"/>
      </p:bgRef>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p>
        </p:txBody>
      </p:sp>
      <p:sp>
        <p:nvSpPr>
          <p:cNvPr id="3" name="文本占位符 2">
            <a:extLst>
              <a:ext uri="{FF2B5EF4-FFF2-40B4-BE49-F238E27FC236}">
                <a16:creationId xmlns:a16="http://schemas.microsoft.com/office/drawing/2014/main" id="{B659CD1F-9DFB-4048-9B9B-2BD7D4EC6400}"/>
              </a:ext>
            </a:extLst>
          </p:cNvPr>
          <p:cNvSpPr>
            <a:spLocks noGrp="1"/>
          </p:cNvSpPr>
          <p:nvPr>
            <p:ph type="body" idx="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p>
        </p:txBody>
      </p:sp>
      <p:sp>
        <p:nvSpPr>
          <p:cNvPr id="4" name="内容占位符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3pPr>
            <a:lvl4pPr marL="13716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4pPr>
            <a:lvl5pPr marL="18288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p>
        </p:txBody>
      </p:sp>
      <p:sp>
        <p:nvSpPr>
          <p:cNvPr id="5" name="文本占位符 4">
            <a:extLst>
              <a:ext uri="{FF2B5EF4-FFF2-40B4-BE49-F238E27FC236}">
                <a16:creationId xmlns:a16="http://schemas.microsoft.com/office/drawing/2014/main" id="{B374FC39-67F6-42EA-BCD1-F69AE2F0F22D}"/>
              </a:ext>
            </a:extLst>
          </p:cNvPr>
          <p:cNvSpPr>
            <a:spLocks noGrp="1"/>
          </p:cNvSpPr>
          <p:nvPr>
            <p:ph type="body" sz="quarter" idx="3"/>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单击此处编辑母版文本样式</a:t>
            </a:r>
          </a:p>
        </p:txBody>
      </p:sp>
      <p:sp>
        <p:nvSpPr>
          <p:cNvPr id="6" name="内容占位符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3pPr>
            <a:lvl4pPr marL="13716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4pPr>
            <a:lvl5pPr marL="18288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p>
        </p:txBody>
      </p:sp>
      <p:sp>
        <p:nvSpPr>
          <p:cNvPr id="21" name="文本占位符 2">
            <a:extLst>
              <a:ext uri="{FF2B5EF4-FFF2-40B4-BE49-F238E27FC236}">
                <a16:creationId xmlns:a16="http://schemas.microsoft.com/office/drawing/2014/main" id="{1F60A771-8BBC-4565-AB09-402DA7CB2780}"/>
              </a:ext>
            </a:extLst>
          </p:cNvPr>
          <p:cNvSpPr>
            <a:spLocks noGrp="1"/>
          </p:cNvSpPr>
          <p:nvPr>
            <p:ph type="body" idx="13"/>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p>
        </p:txBody>
      </p:sp>
      <p:sp>
        <p:nvSpPr>
          <p:cNvPr id="22" name="内容占位符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3pPr>
            <a:lvl4pPr marL="13716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4pPr>
            <a:lvl5pPr marL="18288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p>
        </p:txBody>
      </p:sp>
      <p:sp>
        <p:nvSpPr>
          <p:cNvPr id="7" name="日期占位符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9" name="幻灯片编号占位符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cxnSp>
        <p:nvCxnSpPr>
          <p:cNvPr id="16" name="直接连接符​​(S)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S)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市场比较">
    <p:bg>
      <p:bgPr>
        <a:solidFill>
          <a:schemeClr val="accent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p>
        </p:txBody>
      </p:sp>
      <p:sp>
        <p:nvSpPr>
          <p:cNvPr id="3" name="文本占位符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p>
        </p:txBody>
      </p:sp>
      <p:sp>
        <p:nvSpPr>
          <p:cNvPr id="23" name="文本占位符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p>
        </p:txBody>
      </p:sp>
      <p:sp>
        <p:nvSpPr>
          <p:cNvPr id="24" name="文本占位符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p>
        </p:txBody>
      </p:sp>
      <p:sp>
        <p:nvSpPr>
          <p:cNvPr id="4" name="内容占位符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129698"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单击以编辑</a:t>
            </a:r>
          </a:p>
        </p:txBody>
      </p:sp>
      <p:sp>
        <p:nvSpPr>
          <p:cNvPr id="6" name="内容占位符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526261" y="4824188"/>
            <a:ext cx="3139479" cy="462927"/>
          </a:xfrm>
        </p:spPr>
        <p:txBody>
          <a:bodyPr rtlCol="0">
            <a:normAutofit/>
          </a:bodyPr>
          <a:lstStyle>
            <a:lvl1pPr marL="0" indent="0" algn="ctr">
              <a:lnSpc>
                <a:spcPct val="100000"/>
              </a:lnSpc>
              <a:buNone/>
              <a:defRPr sz="2000" cap="all"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单击以编辑</a:t>
            </a:r>
          </a:p>
        </p:txBody>
      </p:sp>
      <p:sp>
        <p:nvSpPr>
          <p:cNvPr id="22" name="内容占位符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7938210"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单击以编辑</a:t>
            </a:r>
          </a:p>
        </p:txBody>
      </p:sp>
      <p:pic>
        <p:nvPicPr>
          <p:cNvPr id="11" name="图形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图形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图形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内容占位符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单击此处编辑母版文本样式</a:t>
            </a:r>
          </a:p>
        </p:txBody>
      </p:sp>
      <p:sp>
        <p:nvSpPr>
          <p:cNvPr id="26" name="内容占位符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gn="ctr">
              <a:lnSpc>
                <a:spcPct val="100000"/>
              </a:lnSpc>
              <a:buNone/>
              <a:defRPr sz="1400" cap="none"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单击此处编辑母版文本样式</a:t>
            </a:r>
          </a:p>
          <a:p>
            <a:pPr lvl="1" rtl="0"/>
            <a:r>
              <a:rPr lang="zh-CN" altLang="en-US" noProof="0"/>
              <a:t>二级</a:t>
            </a:r>
          </a:p>
        </p:txBody>
      </p:sp>
      <p:sp>
        <p:nvSpPr>
          <p:cNvPr id="27" name="内容占位符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zh-CN" altLang="en-US" noProof="0"/>
              <a:t>单击此处编辑母版文本样式</a:t>
            </a:r>
          </a:p>
        </p:txBody>
      </p:sp>
      <p:sp>
        <p:nvSpPr>
          <p:cNvPr id="7" name="日期占位符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9" name="幻灯片编号占位符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两栏内容">
    <p:bg>
      <p:bgPr>
        <a:solidFill>
          <a:schemeClr val="accent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p>
        </p:txBody>
      </p:sp>
      <p:sp>
        <p:nvSpPr>
          <p:cNvPr id="3" name="文本占位符 2">
            <a:extLst>
              <a:ext uri="{FF2B5EF4-FFF2-40B4-BE49-F238E27FC236}">
                <a16:creationId xmlns:a16="http://schemas.microsoft.com/office/drawing/2014/main" id="{B659CD1F-9DFB-4048-9B9B-2BD7D4EC6400}"/>
              </a:ext>
            </a:extLst>
          </p:cNvPr>
          <p:cNvSpPr>
            <a:spLocks noGrp="1"/>
          </p:cNvSpPr>
          <p:nvPr>
            <p:ph type="body" idx="1"/>
          </p:nvPr>
        </p:nvSpPr>
        <p:spPr>
          <a:xfrm>
            <a:off x="2933700" y="2776936"/>
            <a:ext cx="3924300"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p>
        </p:txBody>
      </p:sp>
      <p:sp>
        <p:nvSpPr>
          <p:cNvPr id="4" name="内容占位符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3pPr>
            <a:lvl4pPr marL="13716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4pPr>
            <a:lvl5pPr marL="18288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p>
        </p:txBody>
      </p:sp>
      <p:sp>
        <p:nvSpPr>
          <p:cNvPr id="5" name="文本占位符 4">
            <a:extLst>
              <a:ext uri="{FF2B5EF4-FFF2-40B4-BE49-F238E27FC236}">
                <a16:creationId xmlns:a16="http://schemas.microsoft.com/office/drawing/2014/main" id="{B374FC39-67F6-42EA-BCD1-F69AE2F0F22D}"/>
              </a:ext>
            </a:extLst>
          </p:cNvPr>
          <p:cNvSpPr>
            <a:spLocks noGrp="1"/>
          </p:cNvSpPr>
          <p:nvPr>
            <p:ph type="body" sz="quarter" idx="3"/>
          </p:nvPr>
        </p:nvSpPr>
        <p:spPr>
          <a:xfrm>
            <a:off x="7410173" y="2776936"/>
            <a:ext cx="3943627"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单击此处编辑母版文本样式</a:t>
            </a:r>
          </a:p>
        </p:txBody>
      </p:sp>
      <p:sp>
        <p:nvSpPr>
          <p:cNvPr id="6" name="内容占位符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2pPr>
            <a:lvl3pPr marL="9144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3pPr>
            <a:lvl4pPr marL="13716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4pPr>
            <a:lvl5pPr marL="182880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p>
        </p:txBody>
      </p:sp>
      <p:sp>
        <p:nvSpPr>
          <p:cNvPr id="7" name="日期占位符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9" name="幻灯片编号占位符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pic>
        <p:nvPicPr>
          <p:cNvPr id="11" name="图形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14" name="图形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标题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p>
        </p:txBody>
      </p:sp>
      <p:sp>
        <p:nvSpPr>
          <p:cNvPr id="20" name="文本占位符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p>
        </p:txBody>
      </p:sp>
      <p:sp>
        <p:nvSpPr>
          <p:cNvPr id="25" name="文本占位符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p>
        </p:txBody>
      </p:sp>
      <p:sp>
        <p:nvSpPr>
          <p:cNvPr id="26" name="文本占位符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p>
        </p:txBody>
      </p:sp>
      <p:sp>
        <p:nvSpPr>
          <p:cNvPr id="27" name="文本占位符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p>
        </p:txBody>
      </p:sp>
      <p:sp>
        <p:nvSpPr>
          <p:cNvPr id="28" name="文本占位符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lvl="0" rtl="0"/>
            <a:r>
              <a:rPr lang="zh-CN" altLang="en-US" noProof="0"/>
              <a:t>单击此处添加副标题</a:t>
            </a:r>
          </a:p>
        </p:txBody>
      </p:sp>
      <p:sp>
        <p:nvSpPr>
          <p:cNvPr id="29" name="文本占位符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单击此处添加文本</a:t>
            </a:r>
          </a:p>
        </p:txBody>
      </p:sp>
      <p:sp>
        <p:nvSpPr>
          <p:cNvPr id="21" name="日期占位符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22" name="页脚占位符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24" name="幻灯片编号占位符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日程表 2">
    <p:spTree>
      <p:nvGrpSpPr>
        <p:cNvPr id="1" name=""/>
        <p:cNvGrpSpPr/>
        <p:nvPr/>
      </p:nvGrpSpPr>
      <p:grpSpPr>
        <a:xfrm>
          <a:off x="0" y="0"/>
          <a:ext cx="0" cy="0"/>
          <a:chOff x="0" y="0"/>
          <a:chExt cx="0" cy="0"/>
        </a:xfrm>
      </p:grpSpPr>
      <p:sp>
        <p:nvSpPr>
          <p:cNvPr id="4" name="长方形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solidFill>
                <a:schemeClr val="tx1">
                  <a:lumMod val="75000"/>
                  <a:lumOff val="25000"/>
                </a:schemeClr>
              </a:solidFill>
              <a:latin typeface="Microsoft YaHei UI" panose="020B0503020204020204" pitchFamily="34" charset="-122"/>
              <a:ea typeface="Microsoft YaHei UI" panose="020B0503020204020204" pitchFamily="34" charset="-122"/>
            </a:endParaRPr>
          </a:p>
        </p:txBody>
      </p:sp>
      <p:sp>
        <p:nvSpPr>
          <p:cNvPr id="2" name="标题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p>
        </p:txBody>
      </p:sp>
      <p:sp>
        <p:nvSpPr>
          <p:cNvPr id="6" name="文本占位符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年</a:t>
            </a:r>
            <a:endParaRPr lang="zh-CN" altLang="en-ZA" noProof="0"/>
          </a:p>
        </p:txBody>
      </p:sp>
      <p:sp>
        <p:nvSpPr>
          <p:cNvPr id="7" name="文本占位符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8" name="文本占位符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9" name="文本占位符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0" name="文本占位符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1" name="文本占位符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zh-CN" altLang="en-US" noProof="0"/>
              <a:t>年</a:t>
            </a:r>
            <a:endParaRPr lang="zh-CN" altLang="en-ZA" noProof="0"/>
          </a:p>
        </p:txBody>
      </p:sp>
      <p:sp>
        <p:nvSpPr>
          <p:cNvPr id="12" name="文本占位符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3" name="文本占位符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4" name="文本占位符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5" name="文本占位符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6" name="文本占位符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7" name="文本占位符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8" name="文本占位符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19" name="文本占位符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0" name="文本占位符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1" name="文本占位符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2" name="文本占位符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3" name="文本占位符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4" name="文本占位符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5" name="文本占位符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6" name="文本占位符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7" name="文本占位符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8" name="文本占位符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29" name="文本占位符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30" name="文本占位符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31" name="文本占位符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lvl="0" rtl="0"/>
            <a:r>
              <a:rPr lang="en-US" altLang="zh-CN" noProof="0"/>
              <a:t>MM</a:t>
            </a:r>
            <a:endParaRPr lang="zh-CN" altLang="en-ZA" noProof="0"/>
          </a:p>
        </p:txBody>
      </p:sp>
      <p:sp>
        <p:nvSpPr>
          <p:cNvPr id="32" name="长方形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ZA" noProof="0">
              <a:solidFill>
                <a:schemeClr val="tx1">
                  <a:lumMod val="75000"/>
                  <a:lumOff val="25000"/>
                </a:schemeClr>
              </a:solidFill>
              <a:latin typeface="Microsoft YaHei UI" panose="020B0503020204020204" pitchFamily="34" charset="-122"/>
              <a:ea typeface="Microsoft YaHei UI" panose="020B0503020204020204" pitchFamily="34" charset="-122"/>
            </a:endParaRPr>
          </a:p>
        </p:txBody>
      </p:sp>
      <p:sp>
        <p:nvSpPr>
          <p:cNvPr id="36" name="日期占位符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37" name="页脚占位符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38" name="灯片编号占位符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Art">
    <p:bg>
      <p:bgRef idx="1001">
        <a:schemeClr val="bg1"/>
      </p:bgRef>
    </p:bg>
    <p:spTree>
      <p:nvGrpSpPr>
        <p:cNvPr id="1" name=""/>
        <p:cNvGrpSpPr/>
        <p:nvPr/>
      </p:nvGrpSpPr>
      <p:grpSpPr>
        <a:xfrm>
          <a:off x="0" y="0"/>
          <a:ext cx="0" cy="0"/>
          <a:chOff x="0" y="0"/>
          <a:chExt cx="0" cy="0"/>
        </a:xfrm>
      </p:grpSpPr>
      <p:sp>
        <p:nvSpPr>
          <p:cNvPr id="7" name="SmartArt 占位符 6">
            <a:extLst>
              <a:ext uri="{FF2B5EF4-FFF2-40B4-BE49-F238E27FC236}">
                <a16:creationId xmlns:a16="http://schemas.microsoft.com/office/drawing/2014/main" id="{156CA116-0F6E-4EE9-B34F-03BA07161A7A}"/>
              </a:ext>
            </a:extLst>
          </p:cNvPr>
          <p:cNvSpPr>
            <a:spLocks noGrp="1"/>
          </p:cNvSpPr>
          <p:nvPr>
            <p:ph type="dgm" sz="quarter" idx="15" hasCustomPrompt="1"/>
          </p:nvPr>
        </p:nvSpPr>
        <p:spPr>
          <a:xfrm>
            <a:off x="838200" y="2136776"/>
            <a:ext cx="10515600" cy="3697645"/>
          </a:xfrm>
        </p:spPr>
        <p:txBody>
          <a:bodyPr rtlCol="0"/>
          <a:lstStyle>
            <a:lvl1pPr>
              <a:defRPr>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 </a:t>
            </a:r>
            <a:r>
              <a:rPr lang="en-US" altLang="zh-CN" noProof="0"/>
              <a:t>SmartArt </a:t>
            </a:r>
            <a:r>
              <a:rPr lang="zh-CN" altLang="en-US" noProof="0"/>
              <a:t>图形</a:t>
            </a:r>
          </a:p>
        </p:txBody>
      </p:sp>
      <p:sp>
        <p:nvSpPr>
          <p:cNvPr id="2" name="标题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p>
        </p:txBody>
      </p:sp>
      <p:sp>
        <p:nvSpPr>
          <p:cNvPr id="3" name="日期占位符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4" name="页脚占位符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p>
        </p:txBody>
      </p:sp>
      <p:cxnSp>
        <p:nvCxnSpPr>
          <p:cNvPr id="10" name="直接连接符​​(S)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S)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灯片编号占位符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团队幻灯片 4 人">
    <p:bg>
      <p:bgRef idx="1001">
        <a:schemeClr val="bg1"/>
      </p:bgRef>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p>
        </p:txBody>
      </p:sp>
      <p:sp>
        <p:nvSpPr>
          <p:cNvPr id="11" name="图片占位符 10">
            <a:extLst>
              <a:ext uri="{FF2B5EF4-FFF2-40B4-BE49-F238E27FC236}">
                <a16:creationId xmlns:a16="http://schemas.microsoft.com/office/drawing/2014/main" id="{B0BDE76A-30A6-4268-9656-28A484C3DCC9}"/>
              </a:ext>
            </a:extLst>
          </p:cNvPr>
          <p:cNvSpPr>
            <a:spLocks noGrp="1"/>
          </p:cNvSpPr>
          <p:nvPr>
            <p:ph type="pic" sz="quarter" idx="14" hasCustomPrompt="1"/>
          </p:nvPr>
        </p:nvSpPr>
        <p:spPr>
          <a:xfrm>
            <a:off x="1487181"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p>
        </p:txBody>
      </p:sp>
      <p:sp>
        <p:nvSpPr>
          <p:cNvPr id="17" name="图片占位符 10">
            <a:extLst>
              <a:ext uri="{FF2B5EF4-FFF2-40B4-BE49-F238E27FC236}">
                <a16:creationId xmlns:a16="http://schemas.microsoft.com/office/drawing/2014/main" id="{C4CA5C9C-91D5-44B1-A82A-A49732B4691A}"/>
              </a:ext>
            </a:extLst>
          </p:cNvPr>
          <p:cNvSpPr>
            <a:spLocks noGrp="1"/>
          </p:cNvSpPr>
          <p:nvPr>
            <p:ph type="pic" sz="quarter" idx="15" hasCustomPrompt="1"/>
          </p:nvPr>
        </p:nvSpPr>
        <p:spPr>
          <a:xfrm>
            <a:off x="3836914"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p>
        </p:txBody>
      </p:sp>
      <p:sp>
        <p:nvSpPr>
          <p:cNvPr id="18" name="图片占位符 10">
            <a:extLst>
              <a:ext uri="{FF2B5EF4-FFF2-40B4-BE49-F238E27FC236}">
                <a16:creationId xmlns:a16="http://schemas.microsoft.com/office/drawing/2014/main" id="{4EBC7D6F-397D-4C5A-AA62-F683F88531A2}"/>
              </a:ext>
            </a:extLst>
          </p:cNvPr>
          <p:cNvSpPr>
            <a:spLocks noGrp="1"/>
          </p:cNvSpPr>
          <p:nvPr>
            <p:ph type="pic" sz="quarter" idx="16" hasCustomPrompt="1"/>
          </p:nvPr>
        </p:nvSpPr>
        <p:spPr>
          <a:xfrm>
            <a:off x="6327578" y="2886074"/>
            <a:ext cx="1845511" cy="1845511"/>
          </a:xfrm>
          <a:solidFill>
            <a:schemeClr val="bg1">
              <a:lumMod val="95000"/>
            </a:schemeClr>
          </a:solidFill>
        </p:spPr>
        <p:txBody>
          <a:bodyPr rtlCol="0">
            <a:normAutofit/>
          </a:bodyPr>
          <a:lstStyle>
            <a:lvl1pPr marL="0" indent="0">
              <a:buNone/>
              <a:defRPr sz="1400">
                <a:latin typeface="Microsoft YaHei UI" panose="020B0503020204020204" pitchFamily="34" charset="-122"/>
                <a:ea typeface="Microsoft YaHei UI" panose="020B0503020204020204" pitchFamily="34" charset="-122"/>
              </a:defRPr>
            </a:lvl1pPr>
            <a:lvl2pPr marL="457200" indent="0" algn="l">
              <a:lnSpc>
                <a:spcPct val="100000"/>
              </a:lnSpc>
              <a:buNone/>
              <a:defRPr sz="1400">
                <a:solidFill>
                  <a:schemeClr val="tx1">
                    <a:lumMod val="75000"/>
                    <a:lumOff val="25000"/>
                  </a:schemeClr>
                </a:solidFill>
              </a:defRPr>
            </a:lvl2pPr>
          </a:lstStyle>
          <a:p>
            <a:pPr lvl="0" rtl="0"/>
            <a:r>
              <a:rPr lang="zh-CN" altLang="en-US" noProof="0"/>
              <a:t>单击图标以添加图片</a:t>
            </a:r>
          </a:p>
        </p:txBody>
      </p:sp>
      <p:sp>
        <p:nvSpPr>
          <p:cNvPr id="19" name="图片占位符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8747458"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p>
        </p:txBody>
      </p:sp>
      <p:sp>
        <p:nvSpPr>
          <p:cNvPr id="3" name="文本占位符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23" name="文本占位符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24" name="文本占位符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25" name="文本占位符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26" name="文本占位符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27" name="文本占位符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28" name="文本占位符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29" name="文本占位符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7" name="日期占位符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9" name="幻灯片编号占位符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cxnSp>
        <p:nvCxnSpPr>
          <p:cNvPr id="10" name="直接连接符​​(S)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S)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团队幻灯片 8 人">
    <p:bg>
      <p:bgPr>
        <a:solidFill>
          <a:schemeClr val="accent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p>
        </p:txBody>
      </p:sp>
      <p:sp>
        <p:nvSpPr>
          <p:cNvPr id="11" name="图片占位符 10">
            <a:extLst>
              <a:ext uri="{FF2B5EF4-FFF2-40B4-BE49-F238E27FC236}">
                <a16:creationId xmlns:a16="http://schemas.microsoft.com/office/drawing/2014/main" id="{B0BDE76A-30A6-4268-9656-28A484C3DCC9}"/>
              </a:ext>
            </a:extLst>
          </p:cNvPr>
          <p:cNvSpPr>
            <a:spLocks noGrp="1"/>
          </p:cNvSpPr>
          <p:nvPr>
            <p:ph type="pic" sz="quarter" idx="14" hasCustomPrompt="1"/>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p>
        </p:txBody>
      </p:sp>
      <p:sp>
        <p:nvSpPr>
          <p:cNvPr id="17" name="图片占位符 10">
            <a:extLst>
              <a:ext uri="{FF2B5EF4-FFF2-40B4-BE49-F238E27FC236}">
                <a16:creationId xmlns:a16="http://schemas.microsoft.com/office/drawing/2014/main" id="{C4CA5C9C-91D5-44B1-A82A-A49732B4691A}"/>
              </a:ext>
            </a:extLst>
          </p:cNvPr>
          <p:cNvSpPr>
            <a:spLocks noGrp="1"/>
          </p:cNvSpPr>
          <p:nvPr>
            <p:ph type="pic" sz="quarter" idx="15" hasCustomPrompt="1"/>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p>
        </p:txBody>
      </p:sp>
      <p:sp>
        <p:nvSpPr>
          <p:cNvPr id="18" name="图片占位符 10">
            <a:extLst>
              <a:ext uri="{FF2B5EF4-FFF2-40B4-BE49-F238E27FC236}">
                <a16:creationId xmlns:a16="http://schemas.microsoft.com/office/drawing/2014/main" id="{4EBC7D6F-397D-4C5A-AA62-F683F88531A2}"/>
              </a:ext>
            </a:extLst>
          </p:cNvPr>
          <p:cNvSpPr>
            <a:spLocks noGrp="1"/>
          </p:cNvSpPr>
          <p:nvPr>
            <p:ph type="pic" sz="quarter" idx="16" hasCustomPrompt="1"/>
          </p:nvPr>
        </p:nvSpPr>
        <p:spPr>
          <a:xfrm>
            <a:off x="6716934" y="2428875"/>
            <a:ext cx="1066800" cy="1066800"/>
          </a:xfrm>
          <a:solidFill>
            <a:schemeClr val="tx1"/>
          </a:solidFill>
        </p:spPr>
        <p:txBody>
          <a:bodyPr rtlCol="0">
            <a:noAutofit/>
          </a:bodyPr>
          <a:lstStyle>
            <a:lvl1pPr marL="0" indent="0" algn="l">
              <a:buNone/>
              <a:defRPr sz="900">
                <a:solidFill>
                  <a:schemeClr val="bg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900">
                <a:solidFill>
                  <a:schemeClr val="bg1">
                    <a:lumMod val="75000"/>
                    <a:lumOff val="25000"/>
                  </a:schemeClr>
                </a:solidFill>
              </a:defRPr>
            </a:lvl2pPr>
          </a:lstStyle>
          <a:p>
            <a:pPr lvl="0" rtl="0"/>
            <a:r>
              <a:rPr lang="zh-CN" altLang="en-US" noProof="0"/>
              <a:t>单击图标以添加图片</a:t>
            </a:r>
          </a:p>
        </p:txBody>
      </p:sp>
      <p:sp>
        <p:nvSpPr>
          <p:cNvPr id="19" name="图片占位符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p>
        </p:txBody>
      </p:sp>
      <p:sp>
        <p:nvSpPr>
          <p:cNvPr id="3" name="文本占位符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26" name="文本占位符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23" name="文本占位符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27" name="文本占位符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24" name="文本占位符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28" name="文本占位符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25" name="文本占位符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29" name="文本占位符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55" name="图片占位符 10">
            <a:extLst>
              <a:ext uri="{FF2B5EF4-FFF2-40B4-BE49-F238E27FC236}">
                <a16:creationId xmlns:a16="http://schemas.microsoft.com/office/drawing/2014/main" id="{1EBAEB1D-A7F9-4F90-B642-4277D3802BAB}"/>
              </a:ext>
            </a:extLst>
          </p:cNvPr>
          <p:cNvSpPr>
            <a:spLocks noGrp="1"/>
          </p:cNvSpPr>
          <p:nvPr>
            <p:ph type="pic" sz="quarter" idx="26" hasCustomPrompt="1"/>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p>
        </p:txBody>
      </p:sp>
      <p:sp>
        <p:nvSpPr>
          <p:cNvPr id="56" name="图片占位符 10">
            <a:extLst>
              <a:ext uri="{FF2B5EF4-FFF2-40B4-BE49-F238E27FC236}">
                <a16:creationId xmlns:a16="http://schemas.microsoft.com/office/drawing/2014/main" id="{9461A69E-14C8-4325-89AF-D4257C1C05BA}"/>
              </a:ext>
            </a:extLst>
          </p:cNvPr>
          <p:cNvSpPr>
            <a:spLocks noGrp="1"/>
          </p:cNvSpPr>
          <p:nvPr>
            <p:ph type="pic" sz="quarter" idx="27" hasCustomPrompt="1"/>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p>
        </p:txBody>
      </p:sp>
      <p:sp>
        <p:nvSpPr>
          <p:cNvPr id="57" name="图片占位符 10">
            <a:extLst>
              <a:ext uri="{FF2B5EF4-FFF2-40B4-BE49-F238E27FC236}">
                <a16:creationId xmlns:a16="http://schemas.microsoft.com/office/drawing/2014/main" id="{0FB38616-82FB-4DAD-A82E-3777ACB41148}"/>
              </a:ext>
            </a:extLst>
          </p:cNvPr>
          <p:cNvSpPr>
            <a:spLocks noGrp="1"/>
          </p:cNvSpPr>
          <p:nvPr>
            <p:ph type="pic" sz="quarter" idx="28" hasCustomPrompt="1"/>
          </p:nvPr>
        </p:nvSpPr>
        <p:spPr>
          <a:xfrm>
            <a:off x="6716934" y="4287711"/>
            <a:ext cx="1066800" cy="1066800"/>
          </a:xfrm>
          <a:solidFill>
            <a:schemeClr val="tx1"/>
          </a:solidFill>
        </p:spPr>
        <p:txBody>
          <a:bodyPr rtlCol="0">
            <a:normAutofit/>
          </a:bodyPr>
          <a:lstStyle>
            <a:lvl1pPr marL="0" indent="0">
              <a:buNone/>
              <a:defRPr sz="900">
                <a:solidFill>
                  <a:schemeClr val="bg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900">
                <a:solidFill>
                  <a:schemeClr val="bg1">
                    <a:lumMod val="75000"/>
                    <a:lumOff val="25000"/>
                  </a:schemeClr>
                </a:solidFill>
              </a:defRPr>
            </a:lvl2pPr>
          </a:lstStyle>
          <a:p>
            <a:pPr lvl="0" rtl="0"/>
            <a:r>
              <a:rPr lang="zh-CN" altLang="en-US" noProof="0"/>
              <a:t>单击图标以添加图片</a:t>
            </a:r>
          </a:p>
        </p:txBody>
      </p:sp>
      <p:sp>
        <p:nvSpPr>
          <p:cNvPr id="58" name="图片占位符 10">
            <a:extLst>
              <a:ext uri="{FF2B5EF4-FFF2-40B4-BE49-F238E27FC236}">
                <a16:creationId xmlns:a16="http://schemas.microsoft.com/office/drawing/2014/main" id="{622ED9F4-EB9B-4588-8501-BFECB846EE73}"/>
              </a:ext>
            </a:extLst>
          </p:cNvPr>
          <p:cNvSpPr>
            <a:spLocks noGrp="1"/>
          </p:cNvSpPr>
          <p:nvPr>
            <p:ph type="pic" sz="quarter" idx="29" hasCustomPrompt="1"/>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latin typeface="Microsoft YaHei UI" panose="020B0503020204020204" pitchFamily="34" charset="-122"/>
                <a:ea typeface="Microsoft YaHei UI" panose="020B0503020204020204" pitchFamily="34" charset="-122"/>
              </a:defRPr>
            </a:lvl1pPr>
          </a:lstStyle>
          <a:p>
            <a:pPr rtl="0"/>
            <a:r>
              <a:rPr lang="zh-CN" altLang="en-US" noProof="0"/>
              <a:t>单击图标以添加图片</a:t>
            </a:r>
          </a:p>
        </p:txBody>
      </p:sp>
      <p:sp>
        <p:nvSpPr>
          <p:cNvPr id="54" name="文本占位符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62" name="文本占位符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59" name="文本占位符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63" name="文本占位符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60" name="文本占位符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64" name="文本占位符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61" name="文本占位符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65" name="文本占位符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7" name="日期占位符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9" name="幻灯片编号占位符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pic>
        <p:nvPicPr>
          <p:cNvPr id="13" name="图形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图形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内容">
    <p:bg>
      <p:bgPr>
        <a:solidFill>
          <a:schemeClr val="bg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p>
        </p:txBody>
      </p:sp>
      <p:sp>
        <p:nvSpPr>
          <p:cNvPr id="11" name="内容占位符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rtlCol="0">
            <a:noAutofit/>
          </a:bodyPr>
          <a:lstStyle>
            <a:lvl1pPr marL="0" indent="0" algn="ctr">
              <a:buNone/>
              <a:defRPr sz="14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zh-CN" altLang="en-US" noProof="0"/>
              <a:t>单击此处添加内容</a:t>
            </a:r>
          </a:p>
        </p:txBody>
      </p:sp>
      <p:sp>
        <p:nvSpPr>
          <p:cNvPr id="3" name="文本占位符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zh-CN" altLang="en-US" noProof="0"/>
          </a:p>
        </p:txBody>
      </p:sp>
      <p:sp>
        <p:nvSpPr>
          <p:cNvPr id="17" name="文本占位符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4" name="内容占位符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zh-CN" altLang="en-US" noProof="0"/>
              <a:t>单击此处编辑母版文本样式</a:t>
            </a:r>
          </a:p>
        </p:txBody>
      </p:sp>
      <p:sp>
        <p:nvSpPr>
          <p:cNvPr id="24" name="内容占位符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rtlCol="0">
            <a:noAutofit/>
          </a:bodyPr>
          <a:lstStyle>
            <a:lvl1pPr marL="0" indent="0" algn="ctr">
              <a:buNone/>
              <a:defRPr sz="14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zh-CN" altLang="en-US" noProof="0"/>
              <a:t>单击此处添加内容</a:t>
            </a:r>
          </a:p>
        </p:txBody>
      </p:sp>
      <p:sp>
        <p:nvSpPr>
          <p:cNvPr id="5" name="文本占位符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zh-CN" altLang="en-US" noProof="0"/>
          </a:p>
        </p:txBody>
      </p:sp>
      <p:sp>
        <p:nvSpPr>
          <p:cNvPr id="18" name="文本占位符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zh-CN" altLang="en-US" noProof="0"/>
              <a:t>单击以编辑</a:t>
            </a:r>
          </a:p>
        </p:txBody>
      </p:sp>
      <p:sp>
        <p:nvSpPr>
          <p:cNvPr id="6" name="内容占位符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zh-CN" altLang="en-US" noProof="0"/>
              <a:t>单击此处编辑母版文本样式</a:t>
            </a:r>
          </a:p>
        </p:txBody>
      </p:sp>
      <p:sp>
        <p:nvSpPr>
          <p:cNvPr id="25" name="内容占位符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rtlCol="0">
            <a:noAutofit/>
          </a:bodyPr>
          <a:lstStyle>
            <a:lvl1pPr marL="0" indent="0" algn="ctr">
              <a:buNone/>
              <a:defRPr sz="14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zh-CN" altLang="en-US" noProof="0"/>
              <a:t>单击此处添加内容</a:t>
            </a:r>
          </a:p>
        </p:txBody>
      </p:sp>
      <p:sp>
        <p:nvSpPr>
          <p:cNvPr id="21" name="文本占位符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zh-CN" altLang="en-US" noProof="0"/>
          </a:p>
        </p:txBody>
      </p:sp>
      <p:sp>
        <p:nvSpPr>
          <p:cNvPr id="19" name="文本占位符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sp>
        <p:nvSpPr>
          <p:cNvPr id="22" name="内容占位符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zh-CN" altLang="en-US" noProof="0"/>
              <a:t>单击此处编辑母版文本样式</a:t>
            </a:r>
          </a:p>
        </p:txBody>
      </p:sp>
      <p:sp>
        <p:nvSpPr>
          <p:cNvPr id="26" name="内容占位符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rtlCol="0">
            <a:noAutofit/>
          </a:bodyPr>
          <a:lstStyle>
            <a:lvl1pPr marL="0" indent="0" algn="ctr">
              <a:buNone/>
              <a:defRPr sz="1400">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zh-CN" altLang="en-US" noProof="0"/>
              <a:t>单击此处添加内容</a:t>
            </a:r>
          </a:p>
        </p:txBody>
      </p:sp>
      <p:sp>
        <p:nvSpPr>
          <p:cNvPr id="14" name="文本占位符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altLang="zh-CN" noProof="0"/>
              <a:t>#</a:t>
            </a:r>
            <a:endParaRPr lang="zh-CN" altLang="en-US" noProof="0"/>
          </a:p>
        </p:txBody>
      </p:sp>
      <p:sp>
        <p:nvSpPr>
          <p:cNvPr id="23" name="文本占位符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单击以编辑</a:t>
            </a:r>
          </a:p>
        </p:txBody>
      </p:sp>
      <p:cxnSp>
        <p:nvCxnSpPr>
          <p:cNvPr id="16" name="直接连接符​​(S)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S)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内容占位符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zh-CN" altLang="en-US" noProof="0"/>
              <a:t>单击此处编辑母版文本样式</a:t>
            </a:r>
          </a:p>
        </p:txBody>
      </p:sp>
      <p:sp>
        <p:nvSpPr>
          <p:cNvPr id="7" name="日期占位符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8" name="页脚占位符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9" name="幻灯片编号占位符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摘要">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a:lstStyle>
          <a:p>
            <a:pPr rtl="0"/>
            <a:r>
              <a:rPr lang="zh-CN" altLang="en-US" noProof="0"/>
              <a:t>单击以编辑模板标题样式</a:t>
            </a:r>
          </a:p>
        </p:txBody>
      </p:sp>
      <p:sp>
        <p:nvSpPr>
          <p:cNvPr id="3" name="文本占位符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rtlCol="0" anchor="b">
            <a:normAutofit/>
          </a:bodyPr>
          <a:lstStyle>
            <a:lvl1pPr marL="0" indent="0">
              <a:lnSpc>
                <a:spcPct val="100000"/>
              </a:lnSpc>
              <a:buNone/>
              <a:defRPr sz="1400" spc="50" baseline="0">
                <a:solidFill>
                  <a:schemeClr val="tx1">
                    <a:lumMod val="75000"/>
                    <a:lumOff val="25000"/>
                  </a:schemeClr>
                </a:solidFill>
                <a:latin typeface="Microsoft YaHei UI" panose="020B0503020204020204" pitchFamily="34" charset="-122"/>
                <a:ea typeface="Microsoft YaHei UI" panose="020B0503020204020204"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zh-CN" altLang="en-US" noProof="0"/>
              <a:t>单击此处编辑母版文本样式</a:t>
            </a:r>
          </a:p>
        </p:txBody>
      </p:sp>
      <p:cxnSp>
        <p:nvCxnSpPr>
          <p:cNvPr id="23" name="直接连接符​​(S)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S)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日期占位符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22" name="页脚占位符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24" name="幻灯片编号占位符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结束语">
    <p:bg>
      <p:bgPr>
        <a:solidFill>
          <a:schemeClr val="accent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tx1">
                    <a:lumMod val="75000"/>
                    <a:lumOff val="25000"/>
                  </a:schemeClr>
                </a:solidFill>
              </a:defRPr>
            </a:lvl1pPr>
          </a:lstStyle>
          <a:p>
            <a:pPr rtl="0"/>
            <a:r>
              <a:rPr lang="zh-CN" altLang="en-US" noProof="0"/>
              <a:t>单击以编辑模板标题样式</a:t>
            </a:r>
          </a:p>
        </p:txBody>
      </p:sp>
      <p:sp>
        <p:nvSpPr>
          <p:cNvPr id="3" name="副标题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004161"/>
          </a:xfrm>
        </p:spPr>
        <p:txBody>
          <a:bodyPr rtlCol="0">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zh-CN" altLang="en-US" noProof="0"/>
              <a:t>单击以编辑母版副标题样式</a:t>
            </a:r>
          </a:p>
        </p:txBody>
      </p:sp>
      <p:pic>
        <p:nvPicPr>
          <p:cNvPr id="6" name="图形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日期占位符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en-US" altLang="zh-CN" noProof="0"/>
              <a:t>20XX</a:t>
            </a:r>
            <a:endParaRPr lang="zh-CN" altLang="en-US" noProof="0"/>
          </a:p>
        </p:txBody>
      </p:sp>
      <p:sp>
        <p:nvSpPr>
          <p:cNvPr id="10" name="页脚占位符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zh-CN" altLang="en-US" noProof="0"/>
              <a:t>融资演讲稿</a:t>
            </a:r>
          </a:p>
        </p:txBody>
      </p:sp>
      <p:sp>
        <p:nvSpPr>
          <p:cNvPr id="11" name="幻灯片编号占位符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en-US" altLang="zh-CN" noProof="0" smtClean="0"/>
              <a:t>‹#›</a:t>
            </a:fld>
            <a:endParaRPr lang="zh-CN" altLang="en-US"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zh-CN" altLang="en-US" noProof="0"/>
              <a:t>单击此处编辑母版标题样式</a:t>
            </a:r>
          </a:p>
        </p:txBody>
      </p:sp>
      <p:sp>
        <p:nvSpPr>
          <p:cNvPr id="3" name="文本占位符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4" name="日期占位符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latin typeface="Microsoft YaHei UI" panose="020B0503020204020204" pitchFamily="34" charset="-122"/>
                <a:ea typeface="Microsoft YaHei UI" panose="020B0503020204020204" pitchFamily="34" charset="-122"/>
              </a:defRPr>
            </a:lvl1pPr>
          </a:lstStyle>
          <a:p>
            <a:r>
              <a:rPr lang="en-US" altLang="zh-CN" noProof="0"/>
              <a:t>20XX</a:t>
            </a:r>
            <a:endParaRPr lang="zh-CN" altLang="en-US" noProof="0"/>
          </a:p>
        </p:txBody>
      </p:sp>
      <p:sp>
        <p:nvSpPr>
          <p:cNvPr id="5" name="页脚占位符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latin typeface="Microsoft YaHei UI" panose="020B0503020204020204" pitchFamily="34" charset="-122"/>
                <a:ea typeface="Microsoft YaHei UI" panose="020B0503020204020204" pitchFamily="34" charset="-122"/>
              </a:defRPr>
            </a:lvl1pPr>
          </a:lstStyle>
          <a:p>
            <a:r>
              <a:rPr lang="zh-CN" altLang="en-US" noProof="0"/>
              <a:t>融资演讲稿</a:t>
            </a:r>
          </a:p>
        </p:txBody>
      </p:sp>
      <p:sp>
        <p:nvSpPr>
          <p:cNvPr id="6" name="幻灯片编号占位符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latin typeface="Microsoft YaHei UI" panose="020B0503020204020204" pitchFamily="34" charset="-122"/>
                <a:ea typeface="Microsoft YaHei UI" panose="020B0503020204020204" pitchFamily="34" charset="-122"/>
              </a:defRPr>
            </a:lvl1pPr>
          </a:lstStyle>
          <a:p>
            <a:fld id="{B5CEABB6-07DC-46E8-9B57-56EC44A396E5}" type="slidenum">
              <a:rPr lang="en-US" altLang="zh-CN" noProof="0" smtClean="0"/>
              <a:pPr/>
              <a:t>‹#›</a:t>
            </a:fld>
            <a:endParaRPr lang="zh-CN" altLang="en-US"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5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mohankrishnathalla/sleep-health-and-daily-performance-dataset" TargetMode="Externa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3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hyperlink" Target="http://127.0.0.1:8080/sleep/home" TargetMode="External"/><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slideLayout" Target="../slideLayouts/slideLayout15.xml"/><Relationship Id="rId1" Type="http://schemas.openxmlformats.org/officeDocument/2006/relationships/themeOverride" Target="../theme/themeOverride1.xml"/><Relationship Id="rId4" Type="http://schemas.openxmlformats.org/officeDocument/2006/relationships/image" Target="../media/image62.png"/></Relationships>
</file>

<file path=ppt/slides/_rels/slide3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15.xml"/><Relationship Id="rId1" Type="http://schemas.openxmlformats.org/officeDocument/2006/relationships/themeOverride" Target="../theme/themeOverride2.xml"/><Relationship Id="rId4" Type="http://schemas.openxmlformats.org/officeDocument/2006/relationships/image" Target="../media/image64.png"/></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15.xml"/><Relationship Id="rId1" Type="http://schemas.openxmlformats.org/officeDocument/2006/relationships/themeOverride" Target="../theme/themeOverride3.xml"/><Relationship Id="rId4" Type="http://schemas.openxmlformats.org/officeDocument/2006/relationships/image" Target="../media/image66.png"/></Relationships>
</file>

<file path=ppt/slides/_rels/slide3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slideLayout" Target="../slideLayouts/slideLayout15.xml"/><Relationship Id="rId1" Type="http://schemas.openxmlformats.org/officeDocument/2006/relationships/themeOverride" Target="../theme/themeOverride4.xml"/><Relationship Id="rId4" Type="http://schemas.openxmlformats.org/officeDocument/2006/relationships/image" Target="../media/image68.png"/></Relationships>
</file>

<file path=ppt/slides/_rels/slide3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Layout" Target="../slideLayouts/slideLayout15.xml"/><Relationship Id="rId1" Type="http://schemas.openxmlformats.org/officeDocument/2006/relationships/themeOverride" Target="../theme/themeOverride5.xml"/><Relationship Id="rId4" Type="http://schemas.openxmlformats.org/officeDocument/2006/relationships/image" Target="../media/image70.png"/></Relationships>
</file>

<file path=ppt/slides/_rels/slide3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slideLayout" Target="../slideLayouts/slideLayout15.xml"/><Relationship Id="rId1" Type="http://schemas.openxmlformats.org/officeDocument/2006/relationships/themeOverride" Target="../theme/themeOverride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6815C6-3AD0-46E6-A74A-1967BD91AF50}"/>
              </a:ext>
            </a:extLst>
          </p:cNvPr>
          <p:cNvSpPr>
            <a:spLocks noGrp="1"/>
          </p:cNvSpPr>
          <p:nvPr>
            <p:ph type="ctrTitle"/>
          </p:nvPr>
        </p:nvSpPr>
        <p:spPr>
          <a:xfrm>
            <a:off x="6831677" y="3151911"/>
            <a:ext cx="4941771" cy="1913296"/>
          </a:xfrm>
        </p:spPr>
        <p:txBody>
          <a:bodyPr rtlCol="0"/>
          <a:lstStyle/>
          <a:p>
            <a:pPr algn="ctr" rtl="0">
              <a:lnSpc>
                <a:spcPct val="150000"/>
              </a:lnSpc>
            </a:pPr>
            <a:r>
              <a:rPr lang="zh-CN" altLang="en-US" sz="4000" b="1" dirty="0">
                <a:latin typeface="宋体" panose="02010600030101010101" pitchFamily="2" charset="-122"/>
                <a:ea typeface="宋体" panose="02010600030101010101" pitchFamily="2" charset="-122"/>
              </a:rPr>
              <a:t>大数据技术实践</a:t>
            </a:r>
            <a:br>
              <a:rPr lang="en-US" altLang="zh-CN" sz="4000" b="1" dirty="0">
                <a:latin typeface="宋体" panose="02010600030101010101" pitchFamily="2" charset="-122"/>
                <a:ea typeface="宋体" panose="02010600030101010101" pitchFamily="2" charset="-122"/>
              </a:rPr>
            </a:br>
            <a:r>
              <a:rPr lang="zh-CN" altLang="en-US" sz="4000" b="1" dirty="0">
                <a:latin typeface="宋体" panose="02010600030101010101" pitchFamily="2" charset="-122"/>
                <a:ea typeface="宋体" panose="02010600030101010101" pitchFamily="2" charset="-122"/>
              </a:rPr>
              <a:t>课堂汇报</a:t>
            </a:r>
          </a:p>
        </p:txBody>
      </p:sp>
      <p:sp>
        <p:nvSpPr>
          <p:cNvPr id="3" name="副标题 2">
            <a:extLst>
              <a:ext uri="{FF2B5EF4-FFF2-40B4-BE49-F238E27FC236}">
                <a16:creationId xmlns:a16="http://schemas.microsoft.com/office/drawing/2014/main" id="{1901B20D-4C28-4DA3-ABBD-718C22A5E58B}"/>
              </a:ext>
            </a:extLst>
          </p:cNvPr>
          <p:cNvSpPr>
            <a:spLocks noGrp="1"/>
          </p:cNvSpPr>
          <p:nvPr>
            <p:ph type="subTitle" idx="1"/>
          </p:nvPr>
        </p:nvSpPr>
        <p:spPr>
          <a:xfrm>
            <a:off x="624841" y="5808563"/>
            <a:ext cx="5900650" cy="396660"/>
          </a:xfrm>
        </p:spPr>
        <p:txBody>
          <a:bodyPr rtlCol="0">
            <a:normAutofit/>
          </a:bodyPr>
          <a:lstStyle/>
          <a:p>
            <a:pPr rtl="0"/>
            <a:r>
              <a:rPr lang="zh-CN" altLang="en-US" dirty="0"/>
              <a:t>组长： 刘舜   组员： 薛继祥、江可、蒋扬凡、魏子琛、丛玺航</a:t>
            </a:r>
            <a:endParaRPr lang="en-US" altLang="zh-CN" dirty="0"/>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A5E8F41F-FFEF-48E8-98A6-776F1FDF5585}"/>
              </a:ext>
            </a:extLst>
          </p:cNvPr>
          <p:cNvSpPr>
            <a:spLocks noGrp="1"/>
          </p:cNvSpPr>
          <p:nvPr>
            <p:ph type="ctrTitle"/>
          </p:nvPr>
        </p:nvSpPr>
        <p:spPr>
          <a:xfrm>
            <a:off x="7932139" y="2932988"/>
            <a:ext cx="2380261" cy="992023"/>
          </a:xfrm>
        </p:spPr>
        <p:txBody>
          <a:bodyPr/>
          <a:lstStyle/>
          <a:p>
            <a:r>
              <a:rPr lang="zh-CN" altLang="en-US" sz="4000" b="1" dirty="0">
                <a:latin typeface="High Tower Text" panose="02040502050506030303" pitchFamily="18" charset="0"/>
              </a:rPr>
              <a:t>选题介绍</a:t>
            </a:r>
          </a:p>
        </p:txBody>
      </p:sp>
    </p:spTree>
    <p:extLst>
      <p:ext uri="{BB962C8B-B14F-4D97-AF65-F5344CB8AC3E}">
        <p14:creationId xmlns:p14="http://schemas.microsoft.com/office/powerpoint/2010/main" val="1753448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3</a:t>
            </a:fld>
            <a:endParaRPr lang="zh-CN" altLang="en-US" noProof="0"/>
          </a:p>
        </p:txBody>
      </p:sp>
      <p:sp>
        <p:nvSpPr>
          <p:cNvPr id="3" name="文本框 2">
            <a:extLst>
              <a:ext uri="{FF2B5EF4-FFF2-40B4-BE49-F238E27FC236}">
                <a16:creationId xmlns:a16="http://schemas.microsoft.com/office/drawing/2014/main" id="{E2433B8C-91AA-4C6D-AF33-811E3C9CD20D}"/>
              </a:ext>
            </a:extLst>
          </p:cNvPr>
          <p:cNvSpPr txBox="1"/>
          <p:nvPr/>
        </p:nvSpPr>
        <p:spPr>
          <a:xfrm>
            <a:off x="685800" y="921658"/>
            <a:ext cx="10668000" cy="2790187"/>
          </a:xfrm>
          <a:prstGeom prst="rect">
            <a:avLst/>
          </a:prstGeom>
          <a:noFill/>
        </p:spPr>
        <p:txBody>
          <a:bodyPr wrap="square" rtlCol="0">
            <a:spAutoFit/>
          </a:bodyPr>
          <a:lstStyle/>
          <a:p>
            <a:pPr>
              <a:lnSpc>
                <a:spcPct val="150000"/>
              </a:lnSpc>
            </a:pPr>
            <a:r>
              <a:rPr lang="en-US" altLang="zh-CN" sz="2000" dirty="0">
                <a:latin typeface="仿宋" panose="02010609060101010101" pitchFamily="49" charset="-122"/>
                <a:ea typeface="仿宋" panose="02010609060101010101" pitchFamily="49" charset="-122"/>
              </a:rPr>
              <a:t>    </a:t>
            </a:r>
            <a:r>
              <a:rPr lang="zh-CN" altLang="en-US" sz="2000" dirty="0">
                <a:latin typeface="宋体" panose="02010600030101010101" pitchFamily="2" charset="-122"/>
                <a:ea typeface="宋体" panose="02010600030101010101" pitchFamily="2" charset="-122"/>
              </a:rPr>
              <a:t>该数据集来自</a:t>
            </a:r>
            <a:r>
              <a:rPr lang="en-US" altLang="zh-CN" sz="2000" dirty="0">
                <a:latin typeface="宋体" panose="02010600030101010101" pitchFamily="2" charset="-122"/>
                <a:ea typeface="宋体" panose="02010600030101010101" pitchFamily="2" charset="-122"/>
              </a:rPr>
              <a:t>Kaggle</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hlinkClick r:id="rId2"/>
              </a:rPr>
              <a:t>https://www.kaggle.com/datasets/mohankrishnathalla/sleep-health-and-daily-performance-dataset</a:t>
            </a:r>
            <a:r>
              <a:rPr lang="zh-CN" altLang="en-US" sz="2000" dirty="0">
                <a:latin typeface="宋体" panose="02010600030101010101" pitchFamily="2" charset="-122"/>
                <a:ea typeface="宋体" panose="02010600030101010101" pitchFamily="2" charset="-122"/>
              </a:rPr>
              <a:t>），据介绍，该数据集是基于研究校准生成的，所有的分布特征、相关关系和特定职业的画像，均根据经过同行评审的来源进行了校准，包括美国疾控中心（</a:t>
            </a:r>
            <a:r>
              <a:rPr lang="en-US" altLang="zh-CN" sz="2000" dirty="0">
                <a:latin typeface="宋体" panose="02010600030101010101" pitchFamily="2" charset="-122"/>
                <a:ea typeface="宋体" panose="02010600030101010101" pitchFamily="2" charset="-122"/>
              </a:rPr>
              <a:t>CDC</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2024</a:t>
            </a:r>
            <a:r>
              <a:rPr lang="zh-CN" altLang="en-US" sz="2000" dirty="0">
                <a:latin typeface="宋体" panose="02010600030101010101" pitchFamily="2" charset="-122"/>
                <a:ea typeface="宋体" panose="02010600030101010101" pitchFamily="2" charset="-122"/>
              </a:rPr>
              <a:t>年全国健康访谈调查、睡眠基金会的人口研究、</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睡眠前沿</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2025</a:t>
            </a:r>
            <a:r>
              <a:rPr lang="zh-CN" altLang="en-US" sz="2000" dirty="0">
                <a:latin typeface="宋体" panose="02010600030101010101" pitchFamily="2" charset="-122"/>
                <a:ea typeface="宋体" panose="02010600030101010101" pitchFamily="2" charset="-122"/>
              </a:rPr>
              <a:t>）以及弗雷明汉心脏研究。数值为合成数据以确保隐私，但其中的统计关系反映了真实世界的模式。</a:t>
            </a:r>
          </a:p>
        </p:txBody>
      </p:sp>
      <p:sp>
        <p:nvSpPr>
          <p:cNvPr id="4" name="文本框 3">
            <a:extLst>
              <a:ext uri="{FF2B5EF4-FFF2-40B4-BE49-F238E27FC236}">
                <a16:creationId xmlns:a16="http://schemas.microsoft.com/office/drawing/2014/main" id="{FA2951DE-A457-454D-B704-3FDFB487053C}"/>
              </a:ext>
            </a:extLst>
          </p:cNvPr>
          <p:cNvSpPr txBox="1"/>
          <p:nvPr/>
        </p:nvSpPr>
        <p:spPr>
          <a:xfrm>
            <a:off x="685799" y="4158343"/>
            <a:ext cx="10668000" cy="1893019"/>
          </a:xfrm>
          <a:prstGeom prst="rect">
            <a:avLst/>
          </a:prstGeom>
          <a:noFill/>
        </p:spPr>
        <p:txBody>
          <a:bodyPr wrap="square" rtlCol="0">
            <a:spAutoFit/>
          </a:bodyPr>
          <a:lstStyle/>
          <a:p>
            <a:pPr>
              <a:lnSpc>
                <a:spcPct val="150000"/>
              </a:lnSpc>
            </a:pPr>
            <a:r>
              <a:rPr lang="en-US" altLang="zh-CN" i="1" dirty="0"/>
              <a:t>    </a:t>
            </a:r>
            <a:r>
              <a:rPr lang="en-US" altLang="zh-CN" sz="2000" i="1" dirty="0">
                <a:latin typeface="High Tower Text" panose="02040502050506030303" pitchFamily="18" charset="0"/>
              </a:rPr>
              <a:t>(</a:t>
            </a:r>
            <a:r>
              <a:rPr lang="en-US" altLang="zh-CN" sz="2000" i="1" dirty="0">
                <a:solidFill>
                  <a:srgbClr val="202124"/>
                </a:solidFill>
                <a:effectLst/>
                <a:latin typeface="High Tower Text" panose="02040502050506030303" pitchFamily="18" charset="0"/>
              </a:rPr>
              <a:t>The data is research-grounded - all distributions, correlations, and occupation-specific profiles are calibrated against peer-reviewed sources including the CDC National Health Interview Survey (2024), Sleep Foundation population studies, Frontiers in Sleep (2025), and the Framingham Heart Study. Values are synthetic to ensure privacy, but the statistical relationships mirror real-world patterns.)</a:t>
            </a:r>
            <a:endParaRPr lang="zh-CN" altLang="en-US" i="1" dirty="0">
              <a:latin typeface="High Tower Text" panose="02040502050506030303" pitchFamily="18" charset="0"/>
            </a:endParaRPr>
          </a:p>
        </p:txBody>
      </p:sp>
    </p:spTree>
    <p:extLst>
      <p:ext uri="{BB962C8B-B14F-4D97-AF65-F5344CB8AC3E}">
        <p14:creationId xmlns:p14="http://schemas.microsoft.com/office/powerpoint/2010/main" val="3198563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4</a:t>
            </a:fld>
            <a:endParaRPr lang="zh-CN" altLang="en-US" noProof="0"/>
          </a:p>
        </p:txBody>
      </p:sp>
      <p:sp>
        <p:nvSpPr>
          <p:cNvPr id="2" name="文本框 1">
            <a:extLst>
              <a:ext uri="{FF2B5EF4-FFF2-40B4-BE49-F238E27FC236}">
                <a16:creationId xmlns:a16="http://schemas.microsoft.com/office/drawing/2014/main" id="{8C7ED6B7-D5D3-4CDD-B99D-CFA2F2639D30}"/>
              </a:ext>
            </a:extLst>
          </p:cNvPr>
          <p:cNvSpPr txBox="1"/>
          <p:nvPr/>
        </p:nvSpPr>
        <p:spPr>
          <a:xfrm>
            <a:off x="602342" y="703943"/>
            <a:ext cx="9535886" cy="400110"/>
          </a:xfrm>
          <a:prstGeom prst="rect">
            <a:avLst/>
          </a:prstGeom>
          <a:noFill/>
        </p:spPr>
        <p:txBody>
          <a:bodyPr wrap="square" rtlCol="0">
            <a:spAutoFit/>
          </a:bodyPr>
          <a:lstStyle/>
          <a:p>
            <a:r>
              <a:rPr lang="zh-CN" altLang="en-US" sz="2000" dirty="0">
                <a:latin typeface="宋体" panose="02010600030101010101" pitchFamily="2" charset="-122"/>
                <a:ea typeface="宋体" panose="02010600030101010101" pitchFamily="2" charset="-122"/>
              </a:rPr>
              <a:t>该数据集共有</a:t>
            </a:r>
            <a:r>
              <a:rPr lang="en-US" altLang="zh-CN" sz="2000" dirty="0">
                <a:latin typeface="宋体" panose="02010600030101010101" pitchFamily="2" charset="-122"/>
                <a:ea typeface="宋体" panose="02010600030101010101" pitchFamily="2" charset="-122"/>
              </a:rPr>
              <a:t>32</a:t>
            </a:r>
            <a:r>
              <a:rPr lang="zh-CN" altLang="en-US" sz="2000" dirty="0">
                <a:latin typeface="宋体" panose="02010600030101010101" pitchFamily="2" charset="-122"/>
                <a:ea typeface="宋体" panose="02010600030101010101" pitchFamily="2" charset="-122"/>
              </a:rPr>
              <a:t>个列，除去唯一标识列（</a:t>
            </a:r>
            <a:r>
              <a:rPr lang="en-US" altLang="zh-CN" sz="2000" dirty="0" err="1">
                <a:latin typeface="宋体" panose="02010600030101010101" pitchFamily="2" charset="-122"/>
                <a:ea typeface="宋体" panose="02010600030101010101" pitchFamily="2" charset="-122"/>
              </a:rPr>
              <a:t>person_id</a:t>
            </a:r>
            <a:r>
              <a:rPr lang="zh-CN" altLang="en-US" sz="2000" dirty="0">
                <a:latin typeface="宋体" panose="02010600030101010101" pitchFamily="2" charset="-122"/>
                <a:ea typeface="宋体" panose="02010600030101010101" pitchFamily="2" charset="-122"/>
              </a:rPr>
              <a:t>）外，其余列可分为以下几类：</a:t>
            </a:r>
          </a:p>
        </p:txBody>
      </p:sp>
      <p:pic>
        <p:nvPicPr>
          <p:cNvPr id="7" name="图片 6">
            <a:extLst>
              <a:ext uri="{FF2B5EF4-FFF2-40B4-BE49-F238E27FC236}">
                <a16:creationId xmlns:a16="http://schemas.microsoft.com/office/drawing/2014/main" id="{FE1EAE53-4E5F-418D-AC9E-386539950D47}"/>
              </a:ext>
            </a:extLst>
          </p:cNvPr>
          <p:cNvPicPr>
            <a:picLocks noChangeAspect="1"/>
          </p:cNvPicPr>
          <p:nvPr/>
        </p:nvPicPr>
        <p:blipFill>
          <a:blip r:embed="rId2"/>
          <a:stretch>
            <a:fillRect/>
          </a:stretch>
        </p:blipFill>
        <p:spPr>
          <a:xfrm>
            <a:off x="921656" y="1407640"/>
            <a:ext cx="4354287" cy="1579917"/>
          </a:xfrm>
          <a:prstGeom prst="rect">
            <a:avLst/>
          </a:prstGeom>
        </p:spPr>
      </p:pic>
      <p:pic>
        <p:nvPicPr>
          <p:cNvPr id="9" name="图片 8">
            <a:extLst>
              <a:ext uri="{FF2B5EF4-FFF2-40B4-BE49-F238E27FC236}">
                <a16:creationId xmlns:a16="http://schemas.microsoft.com/office/drawing/2014/main" id="{E057398E-DB08-43C5-843E-CF79B7E2097F}"/>
              </a:ext>
            </a:extLst>
          </p:cNvPr>
          <p:cNvPicPr>
            <a:picLocks noChangeAspect="1"/>
          </p:cNvPicPr>
          <p:nvPr/>
        </p:nvPicPr>
        <p:blipFill>
          <a:blip r:embed="rId3"/>
          <a:stretch>
            <a:fillRect/>
          </a:stretch>
        </p:blipFill>
        <p:spPr>
          <a:xfrm>
            <a:off x="6430057" y="1407640"/>
            <a:ext cx="3933143" cy="1841588"/>
          </a:xfrm>
          <a:prstGeom prst="rect">
            <a:avLst/>
          </a:prstGeom>
        </p:spPr>
      </p:pic>
      <p:pic>
        <p:nvPicPr>
          <p:cNvPr id="11" name="图片 10">
            <a:extLst>
              <a:ext uri="{FF2B5EF4-FFF2-40B4-BE49-F238E27FC236}">
                <a16:creationId xmlns:a16="http://schemas.microsoft.com/office/drawing/2014/main" id="{64D44C76-FAA2-45C2-958D-34F86D8AD975}"/>
              </a:ext>
            </a:extLst>
          </p:cNvPr>
          <p:cNvPicPr>
            <a:picLocks noChangeAspect="1"/>
          </p:cNvPicPr>
          <p:nvPr/>
        </p:nvPicPr>
        <p:blipFill>
          <a:blip r:embed="rId4"/>
          <a:stretch>
            <a:fillRect/>
          </a:stretch>
        </p:blipFill>
        <p:spPr>
          <a:xfrm>
            <a:off x="2324554" y="5579513"/>
            <a:ext cx="6855732" cy="690213"/>
          </a:xfrm>
          <a:prstGeom prst="rect">
            <a:avLst/>
          </a:prstGeom>
        </p:spPr>
      </p:pic>
      <p:pic>
        <p:nvPicPr>
          <p:cNvPr id="13" name="图片 12">
            <a:extLst>
              <a:ext uri="{FF2B5EF4-FFF2-40B4-BE49-F238E27FC236}">
                <a16:creationId xmlns:a16="http://schemas.microsoft.com/office/drawing/2014/main" id="{84DDBFF0-1BB2-4824-8B9B-23DFDE94D4AF}"/>
              </a:ext>
            </a:extLst>
          </p:cNvPr>
          <p:cNvPicPr>
            <a:picLocks noChangeAspect="1"/>
          </p:cNvPicPr>
          <p:nvPr/>
        </p:nvPicPr>
        <p:blipFill>
          <a:blip r:embed="rId5"/>
          <a:stretch>
            <a:fillRect/>
          </a:stretch>
        </p:blipFill>
        <p:spPr>
          <a:xfrm>
            <a:off x="6430056" y="3627742"/>
            <a:ext cx="3933143" cy="1573257"/>
          </a:xfrm>
          <a:prstGeom prst="rect">
            <a:avLst/>
          </a:prstGeom>
        </p:spPr>
      </p:pic>
      <p:pic>
        <p:nvPicPr>
          <p:cNvPr id="15" name="图片 14">
            <a:extLst>
              <a:ext uri="{FF2B5EF4-FFF2-40B4-BE49-F238E27FC236}">
                <a16:creationId xmlns:a16="http://schemas.microsoft.com/office/drawing/2014/main" id="{10F160D6-D0E9-43D5-8FF8-0D01F4F7012F}"/>
              </a:ext>
            </a:extLst>
          </p:cNvPr>
          <p:cNvPicPr>
            <a:picLocks noChangeAspect="1"/>
          </p:cNvPicPr>
          <p:nvPr/>
        </p:nvPicPr>
        <p:blipFill>
          <a:blip r:embed="rId6"/>
          <a:stretch>
            <a:fillRect/>
          </a:stretch>
        </p:blipFill>
        <p:spPr>
          <a:xfrm>
            <a:off x="1341376" y="3249228"/>
            <a:ext cx="3514845" cy="2043386"/>
          </a:xfrm>
          <a:prstGeom prst="rect">
            <a:avLst/>
          </a:prstGeom>
        </p:spPr>
      </p:pic>
    </p:spTree>
    <p:extLst>
      <p:ext uri="{BB962C8B-B14F-4D97-AF65-F5344CB8AC3E}">
        <p14:creationId xmlns:p14="http://schemas.microsoft.com/office/powerpoint/2010/main" val="674349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A5E8F41F-FFEF-48E8-98A6-776F1FDF5585}"/>
              </a:ext>
            </a:extLst>
          </p:cNvPr>
          <p:cNvSpPr>
            <a:spLocks noGrp="1"/>
          </p:cNvSpPr>
          <p:nvPr>
            <p:ph type="ctrTitle"/>
          </p:nvPr>
        </p:nvSpPr>
        <p:spPr>
          <a:xfrm>
            <a:off x="6908882" y="2932988"/>
            <a:ext cx="4688032" cy="992023"/>
          </a:xfrm>
        </p:spPr>
        <p:txBody>
          <a:bodyPr/>
          <a:lstStyle/>
          <a:p>
            <a:r>
              <a:rPr lang="en-US" altLang="zh-CN" sz="4000" b="1" dirty="0">
                <a:latin typeface="High Tower Text" panose="02040502050506030303" pitchFamily="18" charset="0"/>
              </a:rPr>
              <a:t>HDFS + </a:t>
            </a:r>
            <a:r>
              <a:rPr lang="en-US" altLang="zh-CN" sz="4000" b="1" dirty="0" err="1">
                <a:latin typeface="High Tower Text" panose="02040502050506030303" pitchFamily="18" charset="0"/>
              </a:rPr>
              <a:t>S</a:t>
            </a:r>
            <a:r>
              <a:rPr lang="en-US" altLang="zh-CN" sz="4000" b="1" cap="none" dirty="0" err="1">
                <a:latin typeface="High Tower Text" panose="02040502050506030303" pitchFamily="18" charset="0"/>
              </a:rPr>
              <a:t>park</a:t>
            </a:r>
            <a:r>
              <a:rPr lang="en-US" altLang="zh-CN" sz="4000" b="1" dirty="0" err="1">
                <a:latin typeface="High Tower Text" panose="02040502050506030303" pitchFamily="18" charset="0"/>
              </a:rPr>
              <a:t>SQL</a:t>
            </a:r>
            <a:endParaRPr lang="zh-CN" altLang="en-US" sz="4000" b="1" dirty="0">
              <a:latin typeface="High Tower Text" panose="02040502050506030303" pitchFamily="18" charset="0"/>
            </a:endParaRPr>
          </a:p>
        </p:txBody>
      </p:sp>
    </p:spTree>
    <p:extLst>
      <p:ext uri="{BB962C8B-B14F-4D97-AF65-F5344CB8AC3E}">
        <p14:creationId xmlns:p14="http://schemas.microsoft.com/office/powerpoint/2010/main" val="4182099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6</a:t>
            </a:fld>
            <a:endParaRPr lang="zh-CN" altLang="en-US" noProof="0" dirty="0"/>
          </a:p>
        </p:txBody>
      </p:sp>
      <p:sp>
        <p:nvSpPr>
          <p:cNvPr id="26" name="文本框 25">
            <a:extLst>
              <a:ext uri="{FF2B5EF4-FFF2-40B4-BE49-F238E27FC236}">
                <a16:creationId xmlns:a16="http://schemas.microsoft.com/office/drawing/2014/main" id="{E6BD56D2-5D04-4989-AD3D-9D6FFB6D3DFE}"/>
              </a:ext>
            </a:extLst>
          </p:cNvPr>
          <p:cNvSpPr txBox="1"/>
          <p:nvPr/>
        </p:nvSpPr>
        <p:spPr>
          <a:xfrm>
            <a:off x="446955" y="6282302"/>
            <a:ext cx="5299866" cy="369332"/>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for</a:t>
            </a:r>
            <a:r>
              <a:rPr lang="zh-CN" altLang="en-US" dirty="0">
                <a:latin typeface="宋体" panose="02010600030101010101" pitchFamily="2" charset="-122"/>
                <a:ea typeface="宋体" panose="02010600030101010101" pitchFamily="2" charset="-122"/>
              </a:rPr>
              <a:t>循环遍历</a:t>
            </a:r>
            <a:r>
              <a:rPr lang="en-US" altLang="zh-CN" dirty="0">
                <a:latin typeface="宋体" panose="02010600030101010101" pitchFamily="2" charset="-122"/>
                <a:ea typeface="宋体" panose="02010600030101010101" pitchFamily="2" charset="-122"/>
              </a:rPr>
              <a:t>TABLE_LIST,</a:t>
            </a:r>
            <a:r>
              <a:rPr lang="zh-CN" altLang="en-US" dirty="0">
                <a:latin typeface="宋体" panose="02010600030101010101" pitchFamily="2" charset="-122"/>
                <a:ea typeface="宋体" panose="02010600030101010101" pitchFamily="2" charset="-122"/>
              </a:rPr>
              <a:t>逐个执行</a:t>
            </a:r>
            <a:r>
              <a:rPr lang="en-US" altLang="zh-CN" dirty="0">
                <a:latin typeface="宋体" panose="02010600030101010101" pitchFamily="2" charset="-122"/>
                <a:ea typeface="宋体" panose="02010600030101010101" pitchFamily="2" charset="-122"/>
              </a:rPr>
              <a:t>SELECT</a:t>
            </a:r>
            <a:r>
              <a:rPr lang="zh-CN" altLang="en-US" dirty="0">
                <a:latin typeface="宋体" panose="02010600030101010101" pitchFamily="2" charset="-122"/>
                <a:ea typeface="宋体" panose="02010600030101010101" pitchFamily="2" charset="-122"/>
              </a:rPr>
              <a:t>构建子表</a:t>
            </a:r>
            <a:endParaRPr lang="en-US" altLang="zh-CN" dirty="0">
              <a:latin typeface="宋体" panose="02010600030101010101" pitchFamily="2" charset="-122"/>
              <a:ea typeface="宋体" panose="02010600030101010101" pitchFamily="2" charset="-122"/>
            </a:endParaRPr>
          </a:p>
        </p:txBody>
      </p:sp>
      <p:pic>
        <p:nvPicPr>
          <p:cNvPr id="8" name="图片 7">
            <a:extLst>
              <a:ext uri="{FF2B5EF4-FFF2-40B4-BE49-F238E27FC236}">
                <a16:creationId xmlns:a16="http://schemas.microsoft.com/office/drawing/2014/main" id="{7B3A7680-AEB6-4CA0-AE38-4A59041586A9}"/>
              </a:ext>
            </a:extLst>
          </p:cNvPr>
          <p:cNvPicPr>
            <a:picLocks noChangeAspect="1"/>
          </p:cNvPicPr>
          <p:nvPr/>
        </p:nvPicPr>
        <p:blipFill>
          <a:blip r:embed="rId3"/>
          <a:stretch>
            <a:fillRect/>
          </a:stretch>
        </p:blipFill>
        <p:spPr>
          <a:xfrm>
            <a:off x="779224" y="806809"/>
            <a:ext cx="4635328" cy="5244379"/>
          </a:xfrm>
          <a:prstGeom prst="rect">
            <a:avLst/>
          </a:prstGeom>
        </p:spPr>
      </p:pic>
      <p:sp>
        <p:nvSpPr>
          <p:cNvPr id="9" name="文本框 8">
            <a:extLst>
              <a:ext uri="{FF2B5EF4-FFF2-40B4-BE49-F238E27FC236}">
                <a16:creationId xmlns:a16="http://schemas.microsoft.com/office/drawing/2014/main" id="{E56A660B-8AD5-47CC-9EFB-4888C088276D}"/>
              </a:ext>
            </a:extLst>
          </p:cNvPr>
          <p:cNvSpPr txBox="1"/>
          <p:nvPr/>
        </p:nvSpPr>
        <p:spPr>
          <a:xfrm>
            <a:off x="6472448" y="5728022"/>
            <a:ext cx="4751976" cy="646331"/>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TABLE_LIST</a:t>
            </a:r>
            <a:r>
              <a:rPr lang="zh-CN" altLang="en-US" dirty="0">
                <a:latin typeface="宋体" panose="02010600030101010101" pitchFamily="2" charset="-122"/>
                <a:ea typeface="宋体" panose="02010600030101010101" pitchFamily="2" charset="-122"/>
              </a:rPr>
              <a:t>中的元素为</a:t>
            </a:r>
            <a:r>
              <a:rPr lang="en-US" altLang="zh-CN" dirty="0">
                <a:latin typeface="宋体" panose="02010600030101010101" pitchFamily="2" charset="-122"/>
                <a:ea typeface="宋体" panose="02010600030101010101" pitchFamily="2" charset="-122"/>
              </a:rPr>
              <a:t> &lt;</a:t>
            </a:r>
            <a:r>
              <a:rPr lang="zh-CN" altLang="en-US" dirty="0">
                <a:latin typeface="宋体" panose="02010600030101010101" pitchFamily="2" charset="-122"/>
                <a:ea typeface="宋体" panose="02010600030101010101" pitchFamily="2" charset="-122"/>
              </a:rPr>
              <a:t>表名，</a:t>
            </a:r>
            <a:r>
              <a:rPr lang="en-US" altLang="zh-CN" dirty="0">
                <a:latin typeface="宋体" panose="02010600030101010101" pitchFamily="2" charset="-122"/>
                <a:ea typeface="宋体" panose="02010600030101010101" pitchFamily="2" charset="-122"/>
              </a:rPr>
              <a:t>SELECT</a:t>
            </a:r>
            <a:r>
              <a:rPr lang="zh-CN" altLang="en-US" dirty="0">
                <a:latin typeface="宋体" panose="02010600030101010101" pitchFamily="2" charset="-122"/>
                <a:ea typeface="宋体" panose="02010600030101010101" pitchFamily="2" charset="-122"/>
              </a:rPr>
              <a:t>语句</a:t>
            </a:r>
            <a:r>
              <a:rPr lang="en-US" altLang="zh-CN" dirty="0">
                <a:latin typeface="宋体" panose="02010600030101010101" pitchFamily="2" charset="-122"/>
                <a:ea typeface="宋体" panose="02010600030101010101" pitchFamily="2" charset="-122"/>
              </a:rPr>
              <a:t>&gt;</a:t>
            </a:r>
            <a:r>
              <a:rPr lang="zh-CN" altLang="en-US" dirty="0">
                <a:latin typeface="宋体" panose="02010600030101010101" pitchFamily="2" charset="-122"/>
                <a:ea typeface="宋体" panose="02010600030101010101" pitchFamily="2" charset="-122"/>
              </a:rPr>
              <a:t>的键值对，可以在</a:t>
            </a:r>
            <a:r>
              <a:rPr lang="en-US" altLang="zh-CN" dirty="0">
                <a:latin typeface="宋体" panose="02010600030101010101" pitchFamily="2" charset="-122"/>
                <a:ea typeface="宋体" panose="02010600030101010101" pitchFamily="2" charset="-122"/>
              </a:rPr>
              <a:t>SqlConfig.java</a:t>
            </a:r>
            <a:r>
              <a:rPr lang="zh-CN" altLang="en-US" dirty="0">
                <a:latin typeface="宋体" panose="02010600030101010101" pitchFamily="2" charset="-122"/>
                <a:ea typeface="宋体" panose="02010600030101010101" pitchFamily="2" charset="-122"/>
              </a:rPr>
              <a:t>添加</a:t>
            </a:r>
          </a:p>
        </p:txBody>
      </p:sp>
      <p:pic>
        <p:nvPicPr>
          <p:cNvPr id="4" name="图片 3">
            <a:extLst>
              <a:ext uri="{FF2B5EF4-FFF2-40B4-BE49-F238E27FC236}">
                <a16:creationId xmlns:a16="http://schemas.microsoft.com/office/drawing/2014/main" id="{6B5F9EDD-38EB-4CA2-99E8-1A2C8B2862F7}"/>
              </a:ext>
            </a:extLst>
          </p:cNvPr>
          <p:cNvPicPr>
            <a:picLocks noChangeAspect="1"/>
          </p:cNvPicPr>
          <p:nvPr/>
        </p:nvPicPr>
        <p:blipFill rotWithShape="1">
          <a:blip r:embed="rId4"/>
          <a:srcRect l="20773" t="-104" r="16369"/>
          <a:stretch/>
        </p:blipFill>
        <p:spPr>
          <a:xfrm>
            <a:off x="6037525" y="1267211"/>
            <a:ext cx="5146150" cy="4323573"/>
          </a:xfrm>
          <a:prstGeom prst="rect">
            <a:avLst/>
          </a:prstGeom>
        </p:spPr>
      </p:pic>
    </p:spTree>
    <p:extLst>
      <p:ext uri="{BB962C8B-B14F-4D97-AF65-F5344CB8AC3E}">
        <p14:creationId xmlns:p14="http://schemas.microsoft.com/office/powerpoint/2010/main" val="609920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7</a:t>
            </a:fld>
            <a:endParaRPr lang="zh-CN" altLang="en-US" noProof="0" dirty="0"/>
          </a:p>
        </p:txBody>
      </p:sp>
      <p:sp>
        <p:nvSpPr>
          <p:cNvPr id="2" name="文本框 1">
            <a:extLst>
              <a:ext uri="{FF2B5EF4-FFF2-40B4-BE49-F238E27FC236}">
                <a16:creationId xmlns:a16="http://schemas.microsoft.com/office/drawing/2014/main" id="{30D2D572-B6C0-495A-BB8D-2F69AA79686B}"/>
              </a:ext>
            </a:extLst>
          </p:cNvPr>
          <p:cNvSpPr txBox="1"/>
          <p:nvPr/>
        </p:nvSpPr>
        <p:spPr>
          <a:xfrm>
            <a:off x="551543" y="595349"/>
            <a:ext cx="10668000" cy="5761001"/>
          </a:xfrm>
          <a:prstGeom prst="rect">
            <a:avLst/>
          </a:prstGeom>
          <a:noFill/>
        </p:spPr>
        <p:txBody>
          <a:bodyPr wrap="square" rtlCol="0">
            <a:spAutoFit/>
          </a:bodyPr>
          <a:lstStyle/>
          <a:p>
            <a:pPr>
              <a:lnSpc>
                <a:spcPts val="2600"/>
              </a:lnSpc>
            </a:pPr>
            <a:r>
              <a:rPr lang="zh-CN" altLang="en-US" sz="2000" b="1" dirty="0">
                <a:latin typeface="宋体" panose="02010600030101010101" pitchFamily="2" charset="-122"/>
                <a:ea typeface="宋体" panose="02010600030101010101" pitchFamily="2" charset="-122"/>
              </a:rPr>
              <a:t>按序执行以下命令</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a:lnSpc>
                <a:spcPts val="2800"/>
              </a:lnSpc>
            </a:pPr>
            <a:r>
              <a:rPr lang="en-US" altLang="zh-CN" dirty="0">
                <a:latin typeface="宋体" panose="02010600030101010101" pitchFamily="2" charset="-122"/>
                <a:ea typeface="宋体" panose="02010600030101010101" pitchFamily="2" charset="-122"/>
              </a:rPr>
              <a:t>    // </a:t>
            </a:r>
            <a:r>
              <a:rPr lang="zh-CN" altLang="en-US" dirty="0">
                <a:latin typeface="宋体" panose="02010600030101010101" pitchFamily="2" charset="-122"/>
                <a:ea typeface="宋体" panose="02010600030101010101" pitchFamily="2" charset="-122"/>
              </a:rPr>
              <a:t>启动</a:t>
            </a:r>
            <a:r>
              <a:rPr lang="en-US" altLang="zh-CN" dirty="0">
                <a:latin typeface="宋体" panose="02010600030101010101" pitchFamily="2" charset="-122"/>
                <a:ea typeface="宋体" panose="02010600030101010101" pitchFamily="2" charset="-122"/>
              </a:rPr>
              <a:t>HDFS</a:t>
            </a:r>
          </a:p>
          <a:p>
            <a:pPr>
              <a:lnSpc>
                <a:spcPts val="2800"/>
              </a:lnSpc>
            </a:pPr>
            <a:r>
              <a:rPr lang="en-US" altLang="zh-CN" dirty="0">
                <a:latin typeface="宋体" panose="02010600030101010101" pitchFamily="2" charset="-122"/>
                <a:ea typeface="宋体" panose="02010600030101010101" pitchFamily="2" charset="-122"/>
              </a:rPr>
              <a:t>    start-dfs.sh </a:t>
            </a:r>
          </a:p>
          <a:p>
            <a:pPr>
              <a:lnSpc>
                <a:spcPts val="2800"/>
              </a:lnSpc>
            </a:pPr>
            <a:r>
              <a:rPr lang="en-US" altLang="zh-CN" dirty="0">
                <a:latin typeface="宋体" panose="02010600030101010101" pitchFamily="2" charset="-122"/>
                <a:ea typeface="宋体" panose="02010600030101010101" pitchFamily="2" charset="-122"/>
              </a:rPr>
              <a:t>    // </a:t>
            </a:r>
            <a:r>
              <a:rPr lang="zh-CN" altLang="en-US" dirty="0">
                <a:latin typeface="宋体" panose="02010600030101010101" pitchFamily="2" charset="-122"/>
                <a:ea typeface="宋体" panose="02010600030101010101" pitchFamily="2" charset="-122"/>
              </a:rPr>
              <a:t>启动</a:t>
            </a:r>
            <a:r>
              <a:rPr lang="en-US" altLang="zh-CN" dirty="0">
                <a:latin typeface="宋体" panose="02010600030101010101" pitchFamily="2" charset="-122"/>
                <a:ea typeface="宋体" panose="02010600030101010101" pitchFamily="2" charset="-122"/>
              </a:rPr>
              <a:t>Spark</a:t>
            </a:r>
            <a:r>
              <a:rPr lang="zh-CN" altLang="en-US" dirty="0">
                <a:latin typeface="宋体" panose="02010600030101010101" pitchFamily="2" charset="-122"/>
                <a:ea typeface="宋体" panose="02010600030101010101" pitchFamily="2" charset="-122"/>
              </a:rPr>
              <a:t>集群</a:t>
            </a:r>
            <a:endParaRPr lang="en-US" altLang="zh-CN" dirty="0">
              <a:latin typeface="宋体" panose="02010600030101010101" pitchFamily="2" charset="-122"/>
              <a:ea typeface="宋体" panose="02010600030101010101" pitchFamily="2" charset="-122"/>
            </a:endParaRPr>
          </a:p>
          <a:p>
            <a:pPr>
              <a:lnSpc>
                <a:spcPts val="2800"/>
              </a:lnSpc>
            </a:pPr>
            <a:r>
              <a:rPr lang="en-US" altLang="zh-CN" dirty="0">
                <a:latin typeface="宋体" panose="02010600030101010101" pitchFamily="2" charset="-122"/>
                <a:ea typeface="宋体" panose="02010600030101010101" pitchFamily="2" charset="-122"/>
              </a:rPr>
              <a:t>    /home/hadoop/spark-3.1.2-bin-hadoop3.2/sbin/start-all.sh</a:t>
            </a:r>
          </a:p>
          <a:p>
            <a:pPr>
              <a:lnSpc>
                <a:spcPts val="2800"/>
              </a:lnSpc>
            </a:pPr>
            <a:r>
              <a:rPr lang="en-US" altLang="zh-CN" dirty="0">
                <a:latin typeface="宋体" panose="02010600030101010101" pitchFamily="2" charset="-122"/>
                <a:ea typeface="宋体" panose="02010600030101010101" pitchFamily="2" charset="-122"/>
              </a:rPr>
              <a:t>    // </a:t>
            </a:r>
            <a:r>
              <a:rPr lang="zh-CN" altLang="en-US" dirty="0">
                <a:latin typeface="宋体" panose="02010600030101010101" pitchFamily="2" charset="-122"/>
                <a:ea typeface="宋体" panose="02010600030101010101" pitchFamily="2" charset="-122"/>
              </a:rPr>
              <a:t>在</a:t>
            </a:r>
            <a:r>
              <a:rPr lang="en-US" altLang="zh-CN" dirty="0">
                <a:latin typeface="宋体" panose="02010600030101010101" pitchFamily="2" charset="-122"/>
                <a:ea typeface="宋体" panose="02010600030101010101" pitchFamily="2" charset="-122"/>
              </a:rPr>
              <a:t>HDFS</a:t>
            </a:r>
            <a:r>
              <a:rPr lang="zh-CN" altLang="en-US" dirty="0">
                <a:latin typeface="宋体" panose="02010600030101010101" pitchFamily="2" charset="-122"/>
                <a:ea typeface="宋体" panose="02010600030101010101" pitchFamily="2" charset="-122"/>
              </a:rPr>
              <a:t>创建文件夹</a:t>
            </a:r>
            <a:endParaRPr lang="en-US" altLang="zh-CN" dirty="0">
              <a:latin typeface="宋体" panose="02010600030101010101" pitchFamily="2" charset="-122"/>
              <a:ea typeface="宋体" panose="02010600030101010101" pitchFamily="2" charset="-122"/>
            </a:endParaRPr>
          </a:p>
          <a:p>
            <a:pPr>
              <a:lnSpc>
                <a:spcPts val="2800"/>
              </a:lnSpc>
            </a:pPr>
            <a:r>
              <a:rPr lang="en-US" altLang="zh-CN" dirty="0">
                <a:latin typeface="宋体" panose="02010600030101010101" pitchFamily="2" charset="-122"/>
                <a:ea typeface="宋体" panose="02010600030101010101" pitchFamily="2" charset="-122"/>
              </a:rPr>
              <a:t>    hadoop fs -mkdir -p /user/hadoop/sleep_data</a:t>
            </a:r>
          </a:p>
          <a:p>
            <a:pPr>
              <a:lnSpc>
                <a:spcPts val="2800"/>
              </a:lnSpc>
            </a:pPr>
            <a:r>
              <a:rPr lang="en-US" altLang="zh-CN" dirty="0">
                <a:latin typeface="宋体" panose="02010600030101010101" pitchFamily="2" charset="-122"/>
                <a:ea typeface="宋体" panose="02010600030101010101" pitchFamily="2" charset="-122"/>
              </a:rPr>
              <a:t>    // </a:t>
            </a:r>
            <a:r>
              <a:rPr lang="zh-CN" altLang="en-US" dirty="0">
                <a:latin typeface="宋体" panose="02010600030101010101" pitchFamily="2" charset="-122"/>
                <a:ea typeface="宋体" panose="02010600030101010101" pitchFamily="2" charset="-122"/>
              </a:rPr>
              <a:t>把数据集添加到</a:t>
            </a:r>
            <a:r>
              <a:rPr lang="en-US" altLang="zh-CN" dirty="0">
                <a:latin typeface="宋体" panose="02010600030101010101" pitchFamily="2" charset="-122"/>
                <a:ea typeface="宋体" panose="02010600030101010101" pitchFamily="2" charset="-122"/>
              </a:rPr>
              <a:t>HDFS</a:t>
            </a:r>
            <a:r>
              <a:rPr lang="zh-CN" altLang="en-US" dirty="0">
                <a:latin typeface="宋体" panose="02010600030101010101" pitchFamily="2" charset="-122"/>
                <a:ea typeface="宋体" panose="02010600030101010101" pitchFamily="2" charset="-122"/>
              </a:rPr>
              <a:t>上</a:t>
            </a:r>
            <a:endParaRPr lang="en-US" altLang="zh-CN" dirty="0">
              <a:latin typeface="宋体" panose="02010600030101010101" pitchFamily="2" charset="-122"/>
              <a:ea typeface="宋体" panose="02010600030101010101" pitchFamily="2" charset="-122"/>
            </a:endParaRPr>
          </a:p>
          <a:p>
            <a:pPr>
              <a:lnSpc>
                <a:spcPts val="2800"/>
              </a:lnSpc>
            </a:pPr>
            <a:r>
              <a:rPr lang="en-US" altLang="zh-CN" dirty="0">
                <a:latin typeface="宋体" panose="02010600030101010101" pitchFamily="2" charset="-122"/>
                <a:ea typeface="宋体" panose="02010600030101010101" pitchFamily="2" charset="-122"/>
              </a:rPr>
              <a:t>    hadoop fs -put /home/hadoop/Desktop/sleep_health_dataset.csv /user/hadoop/sleep_data/</a:t>
            </a:r>
          </a:p>
          <a:p>
            <a:pPr>
              <a:lnSpc>
                <a:spcPts val="2800"/>
              </a:lnSpc>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 用</a:t>
            </a:r>
            <a:r>
              <a:rPr lang="en-US" altLang="zh-CN" dirty="0">
                <a:latin typeface="宋体" panose="02010600030101010101" pitchFamily="2" charset="-122"/>
                <a:ea typeface="宋体" panose="02010600030101010101" pitchFamily="2" charset="-122"/>
              </a:rPr>
              <a:t>standalone cluster</a:t>
            </a:r>
            <a:r>
              <a:rPr lang="zh-CN" altLang="en-US" dirty="0">
                <a:latin typeface="宋体" panose="02010600030101010101" pitchFamily="2" charset="-122"/>
                <a:ea typeface="宋体" panose="02010600030101010101" pitchFamily="2" charset="-122"/>
              </a:rPr>
              <a:t>模式执行前面提到的代码</a:t>
            </a:r>
            <a:endParaRPr lang="en-US" altLang="zh-CN" dirty="0">
              <a:latin typeface="宋体" panose="02010600030101010101" pitchFamily="2" charset="-122"/>
              <a:ea typeface="宋体" panose="02010600030101010101" pitchFamily="2" charset="-122"/>
            </a:endParaRPr>
          </a:p>
          <a:p>
            <a:pPr>
              <a:lnSpc>
                <a:spcPts val="2800"/>
              </a:lnSpc>
            </a:pPr>
            <a:r>
              <a:rPr lang="en-US" altLang="zh-CN" dirty="0">
                <a:latin typeface="宋体" panose="02010600030101010101" pitchFamily="2" charset="-122"/>
                <a:ea typeface="宋体" panose="02010600030101010101" pitchFamily="2" charset="-122"/>
              </a:rPr>
              <a:t>    // --jars </a:t>
            </a:r>
            <a:r>
              <a:rPr lang="zh-CN" altLang="en-US" dirty="0">
                <a:latin typeface="宋体" panose="02010600030101010101" pitchFamily="2" charset="-122"/>
                <a:ea typeface="宋体" panose="02010600030101010101" pitchFamily="2" charset="-122"/>
              </a:rPr>
              <a:t>参数指定对应数据库驱动的</a:t>
            </a:r>
            <a:r>
              <a:rPr lang="en-US" altLang="zh-CN" dirty="0">
                <a:latin typeface="宋体" panose="02010600030101010101" pitchFamily="2" charset="-122"/>
                <a:ea typeface="宋体" panose="02010600030101010101" pitchFamily="2" charset="-122"/>
              </a:rPr>
              <a:t>jar</a:t>
            </a:r>
            <a:r>
              <a:rPr lang="zh-CN" altLang="en-US" dirty="0">
                <a:latin typeface="宋体" panose="02010600030101010101" pitchFamily="2" charset="-122"/>
                <a:ea typeface="宋体" panose="02010600030101010101" pitchFamily="2" charset="-122"/>
              </a:rPr>
              <a:t>包</a:t>
            </a:r>
            <a:endParaRPr lang="en-US" altLang="zh-CN" dirty="0">
              <a:latin typeface="宋体" panose="02010600030101010101" pitchFamily="2" charset="-122"/>
              <a:ea typeface="宋体" panose="02010600030101010101" pitchFamily="2" charset="-122"/>
            </a:endParaRPr>
          </a:p>
          <a:p>
            <a:pPr>
              <a:lnSpc>
                <a:spcPts val="2800"/>
              </a:lnSpc>
            </a:pPr>
            <a:r>
              <a:rPr lang="en-US" altLang="zh-CN" dirty="0">
                <a:latin typeface="宋体" panose="02010600030101010101" pitchFamily="2" charset="-122"/>
                <a:ea typeface="宋体" panose="02010600030101010101" pitchFamily="2" charset="-122"/>
              </a:rPr>
              <a:t>    spark-submit    --class org.example.SparkMySQL</a:t>
            </a:r>
          </a:p>
          <a:p>
            <a:pPr>
              <a:lnSpc>
                <a:spcPts val="2800"/>
              </a:lnSpc>
            </a:pPr>
            <a:r>
              <a:rPr lang="en-US" altLang="zh-CN" dirty="0">
                <a:latin typeface="宋体" panose="02010600030101010101" pitchFamily="2" charset="-122"/>
                <a:ea typeface="宋体" panose="02010600030101010101" pitchFamily="2" charset="-122"/>
              </a:rPr>
              <a:t>		    --master spark://namenode:7077   </a:t>
            </a:r>
          </a:p>
          <a:p>
            <a:pPr>
              <a:lnSpc>
                <a:spcPts val="2800"/>
              </a:lnSpc>
            </a:pPr>
            <a:r>
              <a:rPr lang="en-US" altLang="zh-CN" dirty="0">
                <a:latin typeface="宋体" panose="02010600030101010101" pitchFamily="2" charset="-122"/>
                <a:ea typeface="宋体" panose="02010600030101010101" pitchFamily="2" charset="-122"/>
              </a:rPr>
              <a:t>                    --conf spark.eventLog.enabled=false  </a:t>
            </a:r>
          </a:p>
          <a:p>
            <a:pPr>
              <a:lnSpc>
                <a:spcPts val="2800"/>
              </a:lnSpc>
            </a:pPr>
            <a:r>
              <a:rPr lang="en-US" altLang="zh-CN" dirty="0">
                <a:latin typeface="宋体" panose="02010600030101010101" pitchFamily="2" charset="-122"/>
                <a:ea typeface="宋体" panose="02010600030101010101" pitchFamily="2" charset="-122"/>
              </a:rPr>
              <a:t>                    --jars /home/hadoop/Mysql/mysql-connector-j-8.0.33.jar </a:t>
            </a:r>
          </a:p>
          <a:p>
            <a:pPr>
              <a:lnSpc>
                <a:spcPts val="2800"/>
              </a:lnSpc>
            </a:pPr>
            <a:r>
              <a:rPr lang="en-US" altLang="zh-CN" dirty="0">
                <a:latin typeface="宋体" panose="02010600030101010101" pitchFamily="2" charset="-122"/>
                <a:ea typeface="宋体" panose="02010600030101010101" pitchFamily="2" charset="-122"/>
              </a:rPr>
              <a:t>                    /home/hadoop/Desktop/SparkMySQL-1.0.jar</a:t>
            </a:r>
          </a:p>
        </p:txBody>
      </p:sp>
    </p:spTree>
    <p:extLst>
      <p:ext uri="{BB962C8B-B14F-4D97-AF65-F5344CB8AC3E}">
        <p14:creationId xmlns:p14="http://schemas.microsoft.com/office/powerpoint/2010/main" val="3728292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8</a:t>
            </a:fld>
            <a:endParaRPr lang="zh-CN" altLang="en-US" noProof="0"/>
          </a:p>
        </p:txBody>
      </p:sp>
      <p:pic>
        <p:nvPicPr>
          <p:cNvPr id="23" name="图片 22">
            <a:extLst>
              <a:ext uri="{FF2B5EF4-FFF2-40B4-BE49-F238E27FC236}">
                <a16:creationId xmlns:a16="http://schemas.microsoft.com/office/drawing/2014/main" id="{16BD67F8-6DED-4935-9ABF-2EBC78E29872}"/>
              </a:ext>
            </a:extLst>
          </p:cNvPr>
          <p:cNvPicPr>
            <a:picLocks noChangeAspect="1"/>
          </p:cNvPicPr>
          <p:nvPr/>
        </p:nvPicPr>
        <p:blipFill rotWithShape="1">
          <a:blip r:embed="rId2"/>
          <a:srcRect l="7063" r="23102"/>
          <a:stretch/>
        </p:blipFill>
        <p:spPr>
          <a:xfrm>
            <a:off x="382980" y="833016"/>
            <a:ext cx="5465618" cy="4418435"/>
          </a:xfrm>
          <a:prstGeom prst="rect">
            <a:avLst/>
          </a:prstGeom>
        </p:spPr>
      </p:pic>
      <p:pic>
        <p:nvPicPr>
          <p:cNvPr id="25" name="图片 24">
            <a:extLst>
              <a:ext uri="{FF2B5EF4-FFF2-40B4-BE49-F238E27FC236}">
                <a16:creationId xmlns:a16="http://schemas.microsoft.com/office/drawing/2014/main" id="{5663D39E-B8F8-4C54-BA47-E6EA24213490}"/>
              </a:ext>
            </a:extLst>
          </p:cNvPr>
          <p:cNvPicPr>
            <a:picLocks noChangeAspect="1"/>
          </p:cNvPicPr>
          <p:nvPr/>
        </p:nvPicPr>
        <p:blipFill rotWithShape="1">
          <a:blip r:embed="rId3"/>
          <a:srcRect l="6572" r="24266"/>
          <a:stretch/>
        </p:blipFill>
        <p:spPr>
          <a:xfrm>
            <a:off x="6096000" y="833016"/>
            <a:ext cx="5581402" cy="4418435"/>
          </a:xfrm>
          <a:prstGeom prst="rect">
            <a:avLst/>
          </a:prstGeom>
        </p:spPr>
      </p:pic>
      <p:sp>
        <p:nvSpPr>
          <p:cNvPr id="26" name="文本框 25">
            <a:extLst>
              <a:ext uri="{FF2B5EF4-FFF2-40B4-BE49-F238E27FC236}">
                <a16:creationId xmlns:a16="http://schemas.microsoft.com/office/drawing/2014/main" id="{E6BD56D2-5D04-4989-AD3D-9D6FFB6D3DFE}"/>
              </a:ext>
            </a:extLst>
          </p:cNvPr>
          <p:cNvSpPr txBox="1"/>
          <p:nvPr/>
        </p:nvSpPr>
        <p:spPr>
          <a:xfrm>
            <a:off x="3385952" y="5655652"/>
            <a:ext cx="4925292"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启动</a:t>
            </a:r>
            <a:r>
              <a:rPr lang="en-US" altLang="zh-CN" dirty="0">
                <a:latin typeface="宋体" panose="02010600030101010101" pitchFamily="2" charset="-122"/>
                <a:ea typeface="宋体" panose="02010600030101010101" pitchFamily="2" charset="-122"/>
              </a:rPr>
              <a:t>HDFS</a:t>
            </a:r>
            <a:r>
              <a:rPr lang="zh-CN" altLang="en-US" dirty="0">
                <a:latin typeface="宋体" panose="02010600030101010101" pitchFamily="2" charset="-122"/>
                <a:ea typeface="宋体" panose="02010600030101010101" pitchFamily="2" charset="-122"/>
              </a:rPr>
              <a:t>和</a:t>
            </a:r>
            <a:r>
              <a:rPr lang="en-US" altLang="zh-CN" dirty="0">
                <a:latin typeface="宋体" panose="02010600030101010101" pitchFamily="2" charset="-122"/>
                <a:ea typeface="宋体" panose="02010600030101010101" pitchFamily="2" charset="-122"/>
              </a:rPr>
              <a:t>Spark</a:t>
            </a:r>
            <a:r>
              <a:rPr lang="zh-CN" altLang="en-US" dirty="0">
                <a:latin typeface="宋体" panose="02010600030101010101" pitchFamily="2" charset="-122"/>
                <a:ea typeface="宋体" panose="02010600030101010101" pitchFamily="2" charset="-122"/>
              </a:rPr>
              <a:t>集群，并把数据集上传到</a:t>
            </a:r>
            <a:r>
              <a:rPr lang="en-US" altLang="zh-CN" dirty="0">
                <a:latin typeface="宋体" panose="02010600030101010101" pitchFamily="2" charset="-122"/>
                <a:ea typeface="宋体" panose="02010600030101010101" pitchFamily="2" charset="-122"/>
              </a:rPr>
              <a:t>HDFS</a:t>
            </a:r>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649553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9</a:t>
            </a:fld>
            <a:endParaRPr lang="zh-CN" altLang="en-US" noProof="0"/>
          </a:p>
        </p:txBody>
      </p:sp>
      <p:pic>
        <p:nvPicPr>
          <p:cNvPr id="7" name="图片 6">
            <a:extLst>
              <a:ext uri="{FF2B5EF4-FFF2-40B4-BE49-F238E27FC236}">
                <a16:creationId xmlns:a16="http://schemas.microsoft.com/office/drawing/2014/main" id="{422B4AFA-59B0-457E-9704-3664D86C660D}"/>
              </a:ext>
            </a:extLst>
          </p:cNvPr>
          <p:cNvPicPr>
            <a:picLocks noChangeAspect="1"/>
          </p:cNvPicPr>
          <p:nvPr/>
        </p:nvPicPr>
        <p:blipFill>
          <a:blip r:embed="rId2"/>
          <a:stretch>
            <a:fillRect/>
          </a:stretch>
        </p:blipFill>
        <p:spPr>
          <a:xfrm>
            <a:off x="3592287" y="1706884"/>
            <a:ext cx="5174344" cy="3029494"/>
          </a:xfrm>
          <a:prstGeom prst="rect">
            <a:avLst/>
          </a:prstGeom>
        </p:spPr>
      </p:pic>
      <p:sp>
        <p:nvSpPr>
          <p:cNvPr id="2" name="文本框 1">
            <a:extLst>
              <a:ext uri="{FF2B5EF4-FFF2-40B4-BE49-F238E27FC236}">
                <a16:creationId xmlns:a16="http://schemas.microsoft.com/office/drawing/2014/main" id="{2467E365-F7CA-475F-9A43-8B1437932CF1}"/>
              </a:ext>
            </a:extLst>
          </p:cNvPr>
          <p:cNvSpPr txBox="1"/>
          <p:nvPr/>
        </p:nvSpPr>
        <p:spPr>
          <a:xfrm>
            <a:off x="4151086" y="5068813"/>
            <a:ext cx="3889827"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把对应的数据库驱动下载到</a:t>
            </a:r>
            <a:r>
              <a:rPr lang="en-US" altLang="zh-CN" dirty="0" err="1">
                <a:latin typeface="宋体" panose="02010600030101010101" pitchFamily="2" charset="-122"/>
                <a:ea typeface="宋体" panose="02010600030101010101" pitchFamily="2" charset="-122"/>
              </a:rPr>
              <a:t>Vmware</a:t>
            </a:r>
            <a:r>
              <a:rPr lang="zh-CN" altLang="en-US" dirty="0">
                <a:latin typeface="宋体" panose="02010600030101010101" pitchFamily="2" charset="-122"/>
                <a:ea typeface="宋体" panose="02010600030101010101" pitchFamily="2" charset="-122"/>
              </a:rPr>
              <a:t>中</a:t>
            </a:r>
          </a:p>
        </p:txBody>
      </p:sp>
    </p:spTree>
    <p:extLst>
      <p:ext uri="{BB962C8B-B14F-4D97-AF65-F5344CB8AC3E}">
        <p14:creationId xmlns:p14="http://schemas.microsoft.com/office/powerpoint/2010/main" val="1500509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10</a:t>
            </a:fld>
            <a:endParaRPr lang="zh-CN" altLang="en-US" noProof="0"/>
          </a:p>
        </p:txBody>
      </p:sp>
      <p:sp>
        <p:nvSpPr>
          <p:cNvPr id="26" name="文本框 25">
            <a:extLst>
              <a:ext uri="{FF2B5EF4-FFF2-40B4-BE49-F238E27FC236}">
                <a16:creationId xmlns:a16="http://schemas.microsoft.com/office/drawing/2014/main" id="{E6BD56D2-5D04-4989-AD3D-9D6FFB6D3DFE}"/>
              </a:ext>
            </a:extLst>
          </p:cNvPr>
          <p:cNvSpPr txBox="1"/>
          <p:nvPr/>
        </p:nvSpPr>
        <p:spPr>
          <a:xfrm>
            <a:off x="3198871" y="5118251"/>
            <a:ext cx="5937871" cy="646331"/>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把代码提交到</a:t>
            </a:r>
            <a:r>
              <a:rPr lang="en-US" altLang="zh-CN" dirty="0">
                <a:latin typeface="宋体" panose="02010600030101010101" pitchFamily="2" charset="-122"/>
                <a:ea typeface="宋体" panose="02010600030101010101" pitchFamily="2" charset="-122"/>
              </a:rPr>
              <a:t>spark</a:t>
            </a:r>
            <a:r>
              <a:rPr lang="zh-CN" altLang="en-US" dirty="0">
                <a:latin typeface="宋体" panose="02010600030101010101" pitchFamily="2" charset="-122"/>
                <a:ea typeface="宋体" panose="02010600030101010101" pitchFamily="2" charset="-122"/>
              </a:rPr>
              <a:t>集群运行（</a:t>
            </a:r>
            <a:r>
              <a:rPr lang="en-US" altLang="zh-CN" dirty="0">
                <a:latin typeface="宋体" panose="02010600030101010101" pitchFamily="2" charset="-122"/>
                <a:ea typeface="宋体" panose="02010600030101010101" pitchFamily="2" charset="-122"/>
              </a:rPr>
              <a:t>standalone client</a:t>
            </a:r>
            <a:r>
              <a:rPr lang="zh-CN" altLang="en-US" dirty="0">
                <a:latin typeface="宋体" panose="02010600030101010101" pitchFamily="2" charset="-122"/>
                <a:ea typeface="宋体" panose="02010600030101010101" pitchFamily="2" charset="-122"/>
              </a:rPr>
              <a:t>模式）</a:t>
            </a:r>
            <a:endParaRPr lang="en-US" altLang="zh-CN" dirty="0">
              <a:latin typeface="宋体" panose="02010600030101010101" pitchFamily="2" charset="-122"/>
              <a:ea typeface="宋体" panose="02010600030101010101" pitchFamily="2" charset="-122"/>
            </a:endParaRPr>
          </a:p>
          <a:p>
            <a:pPr algn="ctr"/>
            <a:r>
              <a:rPr lang="zh-CN" altLang="en-US" dirty="0">
                <a:latin typeface="宋体" panose="02010600030101010101" pitchFamily="2" charset="-122"/>
                <a:ea typeface="宋体" panose="02010600030101010101" pitchFamily="2" charset="-122"/>
              </a:rPr>
              <a:t>结果保存到本机（</a:t>
            </a:r>
            <a:r>
              <a:rPr lang="en-US" altLang="zh-CN" dirty="0">
                <a:latin typeface="宋体" panose="02010600030101010101" pitchFamily="2" charset="-122"/>
                <a:ea typeface="宋体" panose="02010600030101010101" pitchFamily="2" charset="-122"/>
              </a:rPr>
              <a:t>Windows</a:t>
            </a:r>
            <a:r>
              <a:rPr lang="zh-CN" altLang="en-US" dirty="0">
                <a:latin typeface="宋体" panose="02010600030101010101" pitchFamily="2" charset="-122"/>
                <a:ea typeface="宋体" panose="02010600030101010101" pitchFamily="2" charset="-122"/>
              </a:rPr>
              <a:t>端的</a:t>
            </a:r>
            <a:r>
              <a:rPr lang="en-US" altLang="zh-CN" dirty="0">
                <a:latin typeface="宋体" panose="02010600030101010101" pitchFamily="2" charset="-122"/>
                <a:ea typeface="宋体" panose="02010600030101010101" pitchFamily="2" charset="-122"/>
              </a:rPr>
              <a:t>MySQL</a:t>
            </a:r>
            <a:r>
              <a:rPr lang="zh-CN" altLang="en-US" dirty="0">
                <a:latin typeface="宋体" panose="02010600030101010101" pitchFamily="2" charset="-122"/>
                <a:ea typeface="宋体" panose="02010600030101010101" pitchFamily="2" charset="-122"/>
              </a:rPr>
              <a:t>中）</a:t>
            </a:r>
          </a:p>
        </p:txBody>
      </p:sp>
      <p:pic>
        <p:nvPicPr>
          <p:cNvPr id="3" name="图片 2">
            <a:extLst>
              <a:ext uri="{FF2B5EF4-FFF2-40B4-BE49-F238E27FC236}">
                <a16:creationId xmlns:a16="http://schemas.microsoft.com/office/drawing/2014/main" id="{0140ED18-39C1-4DA4-89F3-E485B77B992F}"/>
              </a:ext>
            </a:extLst>
          </p:cNvPr>
          <p:cNvPicPr>
            <a:picLocks noChangeAspect="1"/>
          </p:cNvPicPr>
          <p:nvPr/>
        </p:nvPicPr>
        <p:blipFill>
          <a:blip r:embed="rId2"/>
          <a:stretch>
            <a:fillRect/>
          </a:stretch>
        </p:blipFill>
        <p:spPr>
          <a:xfrm>
            <a:off x="694985" y="847903"/>
            <a:ext cx="5276975" cy="3982115"/>
          </a:xfrm>
          <a:prstGeom prst="rect">
            <a:avLst/>
          </a:prstGeom>
        </p:spPr>
      </p:pic>
      <p:pic>
        <p:nvPicPr>
          <p:cNvPr id="5" name="图片 4">
            <a:extLst>
              <a:ext uri="{FF2B5EF4-FFF2-40B4-BE49-F238E27FC236}">
                <a16:creationId xmlns:a16="http://schemas.microsoft.com/office/drawing/2014/main" id="{16FF772C-8111-4C43-9590-A2374ECAFBA6}"/>
              </a:ext>
            </a:extLst>
          </p:cNvPr>
          <p:cNvPicPr>
            <a:picLocks noChangeAspect="1"/>
          </p:cNvPicPr>
          <p:nvPr/>
        </p:nvPicPr>
        <p:blipFill>
          <a:blip r:embed="rId3"/>
          <a:stretch>
            <a:fillRect/>
          </a:stretch>
        </p:blipFill>
        <p:spPr>
          <a:xfrm>
            <a:off x="6411342" y="847903"/>
            <a:ext cx="5236298" cy="3982115"/>
          </a:xfrm>
          <a:prstGeom prst="rect">
            <a:avLst/>
          </a:prstGeom>
        </p:spPr>
      </p:pic>
    </p:spTree>
    <p:extLst>
      <p:ext uri="{BB962C8B-B14F-4D97-AF65-F5344CB8AC3E}">
        <p14:creationId xmlns:p14="http://schemas.microsoft.com/office/powerpoint/2010/main" val="3708312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11</a:t>
            </a:fld>
            <a:endParaRPr lang="zh-CN" altLang="en-US" noProof="0"/>
          </a:p>
        </p:txBody>
      </p:sp>
      <p:pic>
        <p:nvPicPr>
          <p:cNvPr id="4" name="图片 3">
            <a:extLst>
              <a:ext uri="{FF2B5EF4-FFF2-40B4-BE49-F238E27FC236}">
                <a16:creationId xmlns:a16="http://schemas.microsoft.com/office/drawing/2014/main" id="{68B01175-C286-4958-A30A-142BDA0DA175}"/>
              </a:ext>
            </a:extLst>
          </p:cNvPr>
          <p:cNvPicPr>
            <a:picLocks noChangeAspect="1"/>
          </p:cNvPicPr>
          <p:nvPr/>
        </p:nvPicPr>
        <p:blipFill>
          <a:blip r:embed="rId2"/>
          <a:stretch>
            <a:fillRect/>
          </a:stretch>
        </p:blipFill>
        <p:spPr>
          <a:xfrm>
            <a:off x="4315667" y="634622"/>
            <a:ext cx="3560666" cy="5182356"/>
          </a:xfrm>
          <a:prstGeom prst="rect">
            <a:avLst/>
          </a:prstGeom>
        </p:spPr>
      </p:pic>
      <p:sp>
        <p:nvSpPr>
          <p:cNvPr id="2" name="文本框 1">
            <a:extLst>
              <a:ext uri="{FF2B5EF4-FFF2-40B4-BE49-F238E27FC236}">
                <a16:creationId xmlns:a16="http://schemas.microsoft.com/office/drawing/2014/main" id="{D7B8BC26-3BAC-4628-A880-2EB54B12A2D3}"/>
              </a:ext>
            </a:extLst>
          </p:cNvPr>
          <p:cNvSpPr txBox="1"/>
          <p:nvPr/>
        </p:nvSpPr>
        <p:spPr>
          <a:xfrm>
            <a:off x="4172856" y="6038712"/>
            <a:ext cx="3846287"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代码执行完后，结果被存到数据库中</a:t>
            </a:r>
          </a:p>
        </p:txBody>
      </p:sp>
    </p:spTree>
    <p:extLst>
      <p:ext uri="{BB962C8B-B14F-4D97-AF65-F5344CB8AC3E}">
        <p14:creationId xmlns:p14="http://schemas.microsoft.com/office/powerpoint/2010/main" val="4187620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A5E8F41F-FFEF-48E8-98A6-776F1FDF5585}"/>
              </a:ext>
            </a:extLst>
          </p:cNvPr>
          <p:cNvSpPr>
            <a:spLocks noGrp="1"/>
          </p:cNvSpPr>
          <p:nvPr>
            <p:ph type="ctrTitle"/>
          </p:nvPr>
        </p:nvSpPr>
        <p:spPr>
          <a:xfrm>
            <a:off x="6582311" y="2965645"/>
            <a:ext cx="5297633" cy="926709"/>
          </a:xfrm>
        </p:spPr>
        <p:txBody>
          <a:bodyPr/>
          <a:lstStyle/>
          <a:p>
            <a:r>
              <a:rPr lang="en-US" altLang="zh-CN" sz="4000" b="1" dirty="0" err="1">
                <a:latin typeface="High Tower Text" panose="02040502050506030303" pitchFamily="18" charset="0"/>
              </a:rPr>
              <a:t>S</a:t>
            </a:r>
            <a:r>
              <a:rPr lang="en-US" altLang="zh-CN" sz="4000" b="1" cap="none" dirty="0" err="1">
                <a:latin typeface="High Tower Text" panose="02040502050506030303" pitchFamily="18" charset="0"/>
              </a:rPr>
              <a:t>pring</a:t>
            </a:r>
            <a:r>
              <a:rPr lang="en-US" altLang="zh-CN" sz="4000" b="1" dirty="0" err="1">
                <a:latin typeface="High Tower Text" panose="02040502050506030303" pitchFamily="18" charset="0"/>
              </a:rPr>
              <a:t>B</a:t>
            </a:r>
            <a:r>
              <a:rPr lang="en-US" altLang="zh-CN" sz="4000" b="1" cap="none" dirty="0" err="1">
                <a:latin typeface="High Tower Text" panose="02040502050506030303" pitchFamily="18" charset="0"/>
              </a:rPr>
              <a:t>oot</a:t>
            </a:r>
            <a:r>
              <a:rPr lang="en-US" altLang="zh-CN" sz="4000" b="1" dirty="0">
                <a:latin typeface="High Tower Text" panose="02040502050506030303" pitchFamily="18" charset="0"/>
              </a:rPr>
              <a:t> + </a:t>
            </a:r>
            <a:r>
              <a:rPr lang="en-US" altLang="zh-CN" sz="4000" b="1" dirty="0" err="1">
                <a:latin typeface="High Tower Text" panose="02040502050506030303" pitchFamily="18" charset="0"/>
              </a:rPr>
              <a:t>Ec</a:t>
            </a:r>
            <a:r>
              <a:rPr lang="en-US" altLang="zh-CN" sz="4000" b="1" cap="none" dirty="0" err="1">
                <a:latin typeface="High Tower Text" panose="02040502050506030303" pitchFamily="18" charset="0"/>
              </a:rPr>
              <a:t>harts</a:t>
            </a:r>
            <a:endParaRPr lang="zh-CN" altLang="en-US" sz="4000" b="1" dirty="0">
              <a:latin typeface="High Tower Text" panose="02040502050506030303" pitchFamily="18" charset="0"/>
            </a:endParaRPr>
          </a:p>
        </p:txBody>
      </p:sp>
    </p:spTree>
    <p:extLst>
      <p:ext uri="{BB962C8B-B14F-4D97-AF65-F5344CB8AC3E}">
        <p14:creationId xmlns:p14="http://schemas.microsoft.com/office/powerpoint/2010/main" val="514957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13</a:t>
            </a:fld>
            <a:endParaRPr lang="zh-CN" altLang="en-US" noProof="0"/>
          </a:p>
        </p:txBody>
      </p:sp>
      <p:sp>
        <p:nvSpPr>
          <p:cNvPr id="11" name="文本框 10">
            <a:extLst>
              <a:ext uri="{FF2B5EF4-FFF2-40B4-BE49-F238E27FC236}">
                <a16:creationId xmlns:a16="http://schemas.microsoft.com/office/drawing/2014/main" id="{A0B7BD08-94B3-4B11-BA67-13D44707CB1D}"/>
              </a:ext>
            </a:extLst>
          </p:cNvPr>
          <p:cNvSpPr txBox="1"/>
          <p:nvPr/>
        </p:nvSpPr>
        <p:spPr>
          <a:xfrm>
            <a:off x="424542" y="931001"/>
            <a:ext cx="3813630" cy="400110"/>
          </a:xfrm>
          <a:prstGeom prst="rect">
            <a:avLst/>
          </a:prstGeom>
          <a:noFill/>
        </p:spPr>
        <p:txBody>
          <a:bodyPr wrap="square">
            <a:spAutoFit/>
          </a:bodyPr>
          <a:lstStyle/>
          <a:p>
            <a:r>
              <a:rPr lang="zh-CN" altLang="zh-CN" sz="2000" kern="100" dirty="0">
                <a:effectLst/>
                <a:latin typeface="宋体" panose="02010600030101010101" pitchFamily="2" charset="-122"/>
                <a:ea typeface="宋体" panose="02010600030101010101" pitchFamily="2" charset="-122"/>
                <a:cs typeface="Times New Roman" panose="02020603050405020304" pitchFamily="18" charset="0"/>
              </a:rPr>
              <a:t>项目的前端文件架构设计如下：</a:t>
            </a:r>
            <a:endParaRPr lang="zh-CN" altLang="en-US" sz="2000" dirty="0">
              <a:latin typeface="宋体" panose="02010600030101010101" pitchFamily="2" charset="-122"/>
              <a:ea typeface="宋体" panose="02010600030101010101" pitchFamily="2" charset="-122"/>
            </a:endParaRPr>
          </a:p>
        </p:txBody>
      </p:sp>
      <p:pic>
        <p:nvPicPr>
          <p:cNvPr id="12" name="图片 11">
            <a:extLst>
              <a:ext uri="{FF2B5EF4-FFF2-40B4-BE49-F238E27FC236}">
                <a16:creationId xmlns:a16="http://schemas.microsoft.com/office/drawing/2014/main" id="{4F6EDB59-DD06-4193-AD06-3FA803050128}"/>
              </a:ext>
            </a:extLst>
          </p:cNvPr>
          <p:cNvPicPr/>
          <p:nvPr/>
        </p:nvPicPr>
        <p:blipFill>
          <a:blip r:embed="rId3"/>
          <a:stretch>
            <a:fillRect/>
          </a:stretch>
        </p:blipFill>
        <p:spPr>
          <a:xfrm>
            <a:off x="424542" y="1447617"/>
            <a:ext cx="5177972" cy="4504025"/>
          </a:xfrm>
          <a:prstGeom prst="rect">
            <a:avLst/>
          </a:prstGeom>
        </p:spPr>
      </p:pic>
      <p:sp>
        <p:nvSpPr>
          <p:cNvPr id="14" name="文本框 13">
            <a:extLst>
              <a:ext uri="{FF2B5EF4-FFF2-40B4-BE49-F238E27FC236}">
                <a16:creationId xmlns:a16="http://schemas.microsoft.com/office/drawing/2014/main" id="{4FD0DFC6-9075-404B-AFFE-312B9EBF8BC7}"/>
              </a:ext>
            </a:extLst>
          </p:cNvPr>
          <p:cNvSpPr txBox="1"/>
          <p:nvPr/>
        </p:nvSpPr>
        <p:spPr>
          <a:xfrm>
            <a:off x="5949043" y="1331111"/>
            <a:ext cx="5292271" cy="4733925"/>
          </a:xfrm>
          <a:prstGeom prst="rect">
            <a:avLst/>
          </a:prstGeom>
          <a:noFill/>
        </p:spPr>
        <p:txBody>
          <a:bodyPr wrap="square">
            <a:spAutoFit/>
          </a:bodyPr>
          <a:lstStyle/>
          <a:p>
            <a:pPr marL="342900" lvl="0" indent="-342900" algn="l">
              <a:lnSpc>
                <a:spcPts val="2600"/>
              </a:lnSpc>
              <a:buFont typeface="+mj-ea"/>
              <a:buAutoNum type="circleNumDbPlain"/>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controllers</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控制器类：控制不同界面的数据传递与方法调用。</a:t>
            </a:r>
            <a:endPar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endParaRPr>
          </a:p>
          <a:p>
            <a:pPr marL="342900" indent="-342900">
              <a:lnSpc>
                <a:spcPts val="2600"/>
              </a:lnSpc>
              <a:buFont typeface="+mj-ea"/>
              <a:buAutoNum type="circleNumDbPlain"/>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models</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数据模型：定义不同类型的数据模型便于后端功能的实现。</a:t>
            </a:r>
          </a:p>
          <a:p>
            <a:pPr marL="342900" indent="-342900">
              <a:lnSpc>
                <a:spcPts val="2600"/>
              </a:lnSpc>
              <a:buFont typeface="+mj-ea"/>
              <a:buAutoNum type="circleNumDbPlain"/>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services</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服务类：通过定义不同的方法实现不同界面的具体功能。</a:t>
            </a:r>
          </a:p>
          <a:p>
            <a:pPr marL="342900" indent="-342900">
              <a:lnSpc>
                <a:spcPts val="2600"/>
              </a:lnSpc>
              <a:buFont typeface="+mj-ea"/>
              <a:buAutoNum type="circleNumDbPlain"/>
            </a:pP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FrontendApplication</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启动类：实现</a:t>
            </a: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SpringBoot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项目的总启动。</a:t>
            </a:r>
          </a:p>
          <a:p>
            <a:pPr marL="342900" indent="-342900">
              <a:lnSpc>
                <a:spcPts val="2600"/>
              </a:lnSpc>
              <a:buFont typeface="+mj-ea"/>
              <a:buAutoNum type="circleNumDbPlain"/>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static</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静态数据：存放</a:t>
            </a: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css</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js</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等静态前端文件，实现前端展示。</a:t>
            </a:r>
          </a:p>
          <a:p>
            <a:pPr marL="342900" indent="-342900">
              <a:lnSpc>
                <a:spcPts val="2600"/>
              </a:lnSpc>
              <a:buFont typeface="+mj-ea"/>
              <a:buAutoNum type="circleNumDbPlain"/>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templates</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渲染模板：存放</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html</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文件，实现前端的渲染。</a:t>
            </a:r>
          </a:p>
          <a:p>
            <a:pPr marL="342900" indent="-342900">
              <a:lnSpc>
                <a:spcPts val="2600"/>
              </a:lnSpc>
              <a:buFont typeface="+mj-ea"/>
              <a:buAutoNum type="circleNumDbPlain"/>
            </a:pPr>
            <a:r>
              <a:rPr lang="en-US" altLang="zh-CN" sz="1800" kern="100" dirty="0" err="1">
                <a:effectLst/>
                <a:latin typeface="宋体" panose="02010600030101010101" pitchFamily="2" charset="-122"/>
                <a:ea typeface="宋体" panose="02010600030101010101" pitchFamily="2" charset="-122"/>
                <a:cs typeface="Times New Roman" panose="02020603050405020304" pitchFamily="18" charset="0"/>
              </a:rPr>
              <a:t>application.properties</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配置文件：存放</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MySQL</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数据库的连接配置。</a:t>
            </a:r>
          </a:p>
        </p:txBody>
      </p:sp>
    </p:spTree>
    <p:extLst>
      <p:ext uri="{BB962C8B-B14F-4D97-AF65-F5344CB8AC3E}">
        <p14:creationId xmlns:p14="http://schemas.microsoft.com/office/powerpoint/2010/main" val="2178604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14</a:t>
            </a:fld>
            <a:endParaRPr lang="zh-CN" altLang="en-US" noProof="0"/>
          </a:p>
        </p:txBody>
      </p:sp>
      <p:pic>
        <p:nvPicPr>
          <p:cNvPr id="3" name="图片 2">
            <a:extLst>
              <a:ext uri="{FF2B5EF4-FFF2-40B4-BE49-F238E27FC236}">
                <a16:creationId xmlns:a16="http://schemas.microsoft.com/office/drawing/2014/main" id="{9EBEB583-0980-4617-9EB4-7BB8E2A82674}"/>
              </a:ext>
            </a:extLst>
          </p:cNvPr>
          <p:cNvPicPr/>
          <p:nvPr/>
        </p:nvPicPr>
        <p:blipFill>
          <a:blip r:embed="rId3"/>
          <a:stretch>
            <a:fillRect/>
          </a:stretch>
        </p:blipFill>
        <p:spPr>
          <a:xfrm>
            <a:off x="1801356" y="1342934"/>
            <a:ext cx="8589287" cy="4041503"/>
          </a:xfrm>
          <a:prstGeom prst="rect">
            <a:avLst/>
          </a:prstGeom>
        </p:spPr>
      </p:pic>
      <p:sp>
        <p:nvSpPr>
          <p:cNvPr id="5" name="文本框 4">
            <a:extLst>
              <a:ext uri="{FF2B5EF4-FFF2-40B4-BE49-F238E27FC236}">
                <a16:creationId xmlns:a16="http://schemas.microsoft.com/office/drawing/2014/main" id="{229C0A1C-494C-48C7-8AFF-76693FABCDFD}"/>
              </a:ext>
            </a:extLst>
          </p:cNvPr>
          <p:cNvSpPr txBox="1"/>
          <p:nvPr/>
        </p:nvSpPr>
        <p:spPr>
          <a:xfrm>
            <a:off x="2838449" y="5610491"/>
            <a:ext cx="6515100" cy="369332"/>
          </a:xfrm>
          <a:prstGeom prst="rect">
            <a:avLst/>
          </a:prstGeom>
          <a:noFill/>
        </p:spPr>
        <p:txBody>
          <a:bodyPr wrap="square">
            <a:spAutoFit/>
          </a:bodyPr>
          <a:lstStyle/>
          <a:p>
            <a:pPr algn="ctr"/>
            <a:r>
              <a:rPr lang="zh-CN" altLang="zh-CN" dirty="0">
                <a:latin typeface="宋体" panose="02010600030101010101" pitchFamily="2" charset="-122"/>
                <a:ea typeface="宋体" panose="02010600030101010101" pitchFamily="2" charset="-122"/>
              </a:rPr>
              <a:t>首页：点击中间</a:t>
            </a:r>
            <a:r>
              <a:rPr lang="en-US" altLang="zh-CN" dirty="0">
                <a:latin typeface="宋体" panose="02010600030101010101" pitchFamily="2" charset="-122"/>
                <a:ea typeface="宋体" panose="02010600030101010101" pitchFamily="2" charset="-122"/>
              </a:rPr>
              <a:t>8</a:t>
            </a:r>
            <a:r>
              <a:rPr lang="zh-CN" altLang="zh-CN" dirty="0">
                <a:latin typeface="宋体" panose="02010600030101010101" pitchFamily="2" charset="-122"/>
                <a:ea typeface="宋体" panose="02010600030101010101" pitchFamily="2" charset="-122"/>
              </a:rPr>
              <a:t>个按键可以进入相应界面，背景具有动态效果</a:t>
            </a:r>
            <a:r>
              <a:rPr lang="zh-CN" altLang="en-US" dirty="0">
                <a:latin typeface="宋体" panose="02010600030101010101" pitchFamily="2" charset="-122"/>
                <a:ea typeface="宋体" panose="02010600030101010101" pitchFamily="2" charset="-122"/>
              </a:rPr>
              <a:t>。</a:t>
            </a:r>
            <a:endParaRPr lang="zh-CN" altLang="zh-CN" dirty="0">
              <a:latin typeface="宋体" panose="02010600030101010101" pitchFamily="2" charset="-122"/>
              <a:ea typeface="宋体" panose="02010600030101010101" pitchFamily="2" charset="-122"/>
            </a:endParaRPr>
          </a:p>
        </p:txBody>
      </p:sp>
      <p:sp>
        <p:nvSpPr>
          <p:cNvPr id="4" name="文本框 3">
            <a:extLst>
              <a:ext uri="{FF2B5EF4-FFF2-40B4-BE49-F238E27FC236}">
                <a16:creationId xmlns:a16="http://schemas.microsoft.com/office/drawing/2014/main" id="{CFF831FD-48F6-4A96-ABBD-92DFEABF1BD0}"/>
              </a:ext>
            </a:extLst>
          </p:cNvPr>
          <p:cNvSpPr txBox="1"/>
          <p:nvPr/>
        </p:nvSpPr>
        <p:spPr>
          <a:xfrm>
            <a:off x="624117" y="445019"/>
            <a:ext cx="1583638"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主页面</a:t>
            </a:r>
          </a:p>
        </p:txBody>
      </p:sp>
    </p:spTree>
    <p:extLst>
      <p:ext uri="{BB962C8B-B14F-4D97-AF65-F5344CB8AC3E}">
        <p14:creationId xmlns:p14="http://schemas.microsoft.com/office/powerpoint/2010/main" val="766096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15</a:t>
            </a:fld>
            <a:endParaRPr lang="zh-CN" altLang="en-US" noProof="0"/>
          </a:p>
        </p:txBody>
      </p:sp>
      <p:pic>
        <p:nvPicPr>
          <p:cNvPr id="3" name="图片 2">
            <a:extLst>
              <a:ext uri="{FF2B5EF4-FFF2-40B4-BE49-F238E27FC236}">
                <a16:creationId xmlns:a16="http://schemas.microsoft.com/office/drawing/2014/main" id="{4DED8F0D-9058-48A7-8AAB-56083E51E3D5}"/>
              </a:ext>
            </a:extLst>
          </p:cNvPr>
          <p:cNvPicPr/>
          <p:nvPr/>
        </p:nvPicPr>
        <p:blipFill>
          <a:blip r:embed="rId3"/>
          <a:stretch>
            <a:fillRect/>
          </a:stretch>
        </p:blipFill>
        <p:spPr>
          <a:xfrm>
            <a:off x="1843511" y="1235112"/>
            <a:ext cx="8504978" cy="3992590"/>
          </a:xfrm>
          <a:prstGeom prst="rect">
            <a:avLst/>
          </a:prstGeom>
        </p:spPr>
      </p:pic>
      <p:sp>
        <p:nvSpPr>
          <p:cNvPr id="2" name="文本框 1">
            <a:extLst>
              <a:ext uri="{FF2B5EF4-FFF2-40B4-BE49-F238E27FC236}">
                <a16:creationId xmlns:a16="http://schemas.microsoft.com/office/drawing/2014/main" id="{786362EC-229F-4919-A458-01DB1E5268CF}"/>
              </a:ext>
            </a:extLst>
          </p:cNvPr>
          <p:cNvSpPr txBox="1"/>
          <p:nvPr/>
        </p:nvSpPr>
        <p:spPr>
          <a:xfrm>
            <a:off x="1622070" y="5433020"/>
            <a:ext cx="8947860" cy="923330"/>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数据仪表盘：</a:t>
            </a:r>
            <a:r>
              <a:rPr lang="zh-CN" altLang="zh-CN" dirty="0">
                <a:latin typeface="宋体" panose="02010600030101010101" pitchFamily="2" charset="-122"/>
                <a:ea typeface="宋体" panose="02010600030101010101" pitchFamily="2" charset="-122"/>
              </a:rPr>
              <a:t>显示总数目、平均指标等具有全局性的数据，并用柱状图、扇形图等形式显示部分具有代表性的特征列的分布和对应指标，如</a:t>
            </a:r>
            <a:r>
              <a:rPr lang="zh-CN" altLang="en-US"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睡眠障碍风险分布</a:t>
            </a:r>
            <a:r>
              <a:rPr lang="zh-CN" altLang="en-US"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压力指数分布</a:t>
            </a:r>
            <a:r>
              <a:rPr lang="zh-CN" altLang="en-US"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等，除此之外，该界面还包含体现两个特征相关性的散点图等形式的图表</a:t>
            </a:r>
            <a:r>
              <a:rPr lang="zh-CN" altLang="en-US" dirty="0">
                <a:latin typeface="宋体" panose="02010600030101010101" pitchFamily="2" charset="-122"/>
                <a:ea typeface="宋体" panose="02010600030101010101" pitchFamily="2" charset="-122"/>
              </a:rPr>
              <a:t>。</a:t>
            </a:r>
          </a:p>
        </p:txBody>
      </p:sp>
      <p:sp>
        <p:nvSpPr>
          <p:cNvPr id="7" name="文本框 6">
            <a:extLst>
              <a:ext uri="{FF2B5EF4-FFF2-40B4-BE49-F238E27FC236}">
                <a16:creationId xmlns:a16="http://schemas.microsoft.com/office/drawing/2014/main" id="{146AA795-326B-4ACC-8113-D1541D4DD0E5}"/>
              </a:ext>
            </a:extLst>
          </p:cNvPr>
          <p:cNvSpPr txBox="1"/>
          <p:nvPr/>
        </p:nvSpPr>
        <p:spPr>
          <a:xfrm>
            <a:off x="624117" y="445019"/>
            <a:ext cx="2307769"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数据仪表盘</a:t>
            </a:r>
          </a:p>
        </p:txBody>
      </p:sp>
    </p:spTree>
    <p:extLst>
      <p:ext uri="{BB962C8B-B14F-4D97-AF65-F5344CB8AC3E}">
        <p14:creationId xmlns:p14="http://schemas.microsoft.com/office/powerpoint/2010/main" val="953847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16</a:t>
            </a:fld>
            <a:endParaRPr lang="zh-CN" altLang="en-US" noProof="0"/>
          </a:p>
        </p:txBody>
      </p:sp>
      <p:sp>
        <p:nvSpPr>
          <p:cNvPr id="7" name="文本框 6">
            <a:extLst>
              <a:ext uri="{FF2B5EF4-FFF2-40B4-BE49-F238E27FC236}">
                <a16:creationId xmlns:a16="http://schemas.microsoft.com/office/drawing/2014/main" id="{AE784B12-8A2B-49E8-A612-7143FB98CF8A}"/>
              </a:ext>
            </a:extLst>
          </p:cNvPr>
          <p:cNvSpPr txBox="1"/>
          <p:nvPr/>
        </p:nvSpPr>
        <p:spPr>
          <a:xfrm>
            <a:off x="624117" y="445019"/>
            <a:ext cx="2307769"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数据仪表盘</a:t>
            </a:r>
          </a:p>
        </p:txBody>
      </p:sp>
      <p:pic>
        <p:nvPicPr>
          <p:cNvPr id="9" name="图片 8">
            <a:extLst>
              <a:ext uri="{FF2B5EF4-FFF2-40B4-BE49-F238E27FC236}">
                <a16:creationId xmlns:a16="http://schemas.microsoft.com/office/drawing/2014/main" id="{C52AD987-28AF-4211-ADAE-22C2CF8955AD}"/>
              </a:ext>
            </a:extLst>
          </p:cNvPr>
          <p:cNvPicPr/>
          <p:nvPr/>
        </p:nvPicPr>
        <p:blipFill>
          <a:blip r:embed="rId3"/>
          <a:stretch>
            <a:fillRect/>
          </a:stretch>
        </p:blipFill>
        <p:spPr>
          <a:xfrm>
            <a:off x="1843511" y="1219686"/>
            <a:ext cx="8504978" cy="4008016"/>
          </a:xfrm>
          <a:prstGeom prst="rect">
            <a:avLst/>
          </a:prstGeom>
        </p:spPr>
      </p:pic>
      <p:sp>
        <p:nvSpPr>
          <p:cNvPr id="12" name="文本框 11">
            <a:extLst>
              <a:ext uri="{FF2B5EF4-FFF2-40B4-BE49-F238E27FC236}">
                <a16:creationId xmlns:a16="http://schemas.microsoft.com/office/drawing/2014/main" id="{00D3A35A-E909-4314-943C-EA3D39BA773F}"/>
              </a:ext>
            </a:extLst>
          </p:cNvPr>
          <p:cNvSpPr txBox="1"/>
          <p:nvPr/>
        </p:nvSpPr>
        <p:spPr>
          <a:xfrm>
            <a:off x="1622070" y="5433020"/>
            <a:ext cx="8947860" cy="923330"/>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数据仪表盘：</a:t>
            </a:r>
            <a:r>
              <a:rPr lang="zh-CN" altLang="zh-CN" dirty="0">
                <a:latin typeface="宋体" panose="02010600030101010101" pitchFamily="2" charset="-122"/>
                <a:ea typeface="宋体" panose="02010600030101010101" pitchFamily="2" charset="-122"/>
              </a:rPr>
              <a:t>显示总数目、平均指标等具有全局性的数据，并用柱状图、扇形图等形式显示部分具有代表性的特征列的分布和对应指标，如</a:t>
            </a:r>
            <a:r>
              <a:rPr lang="zh-CN" altLang="en-US"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睡眠障碍风险分布</a:t>
            </a:r>
            <a:r>
              <a:rPr lang="zh-CN" altLang="en-US"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压力指数分布</a:t>
            </a:r>
            <a:r>
              <a:rPr lang="zh-CN" altLang="en-US"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等，除此之外，该界面还包含体现两个特征相关性的散点图等形式的图表</a:t>
            </a:r>
            <a:r>
              <a:rPr lang="zh-CN" altLang="en-US" dirty="0">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val="3250869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17</a:t>
            </a:fld>
            <a:endParaRPr lang="zh-CN" altLang="en-US" noProof="0"/>
          </a:p>
        </p:txBody>
      </p:sp>
      <p:sp>
        <p:nvSpPr>
          <p:cNvPr id="3" name="文本框 2">
            <a:extLst>
              <a:ext uri="{FF2B5EF4-FFF2-40B4-BE49-F238E27FC236}">
                <a16:creationId xmlns:a16="http://schemas.microsoft.com/office/drawing/2014/main" id="{FA4A0AEE-DE02-423B-AA76-D5942D250CDD}"/>
              </a:ext>
            </a:extLst>
          </p:cNvPr>
          <p:cNvSpPr txBox="1"/>
          <p:nvPr/>
        </p:nvSpPr>
        <p:spPr>
          <a:xfrm>
            <a:off x="624117" y="445019"/>
            <a:ext cx="2692397"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睡眠质量分布</a:t>
            </a:r>
          </a:p>
        </p:txBody>
      </p:sp>
      <p:sp>
        <p:nvSpPr>
          <p:cNvPr id="5" name="文本框 4">
            <a:extLst>
              <a:ext uri="{FF2B5EF4-FFF2-40B4-BE49-F238E27FC236}">
                <a16:creationId xmlns:a16="http://schemas.microsoft.com/office/drawing/2014/main" id="{258AF788-77BC-45E8-BE5D-9E421F258565}"/>
              </a:ext>
            </a:extLst>
          </p:cNvPr>
          <p:cNvSpPr txBox="1"/>
          <p:nvPr/>
        </p:nvSpPr>
        <p:spPr>
          <a:xfrm>
            <a:off x="1386114" y="5433020"/>
            <a:ext cx="9419771" cy="1200329"/>
          </a:xfrm>
          <a:prstGeom prst="rect">
            <a:avLst/>
          </a:prstGeom>
          <a:noFill/>
        </p:spPr>
        <p:txBody>
          <a:bodyPr wrap="square">
            <a:spAutoFit/>
          </a:bodyPr>
          <a:lstStyle/>
          <a:p>
            <a:pPr algn="just"/>
            <a:r>
              <a:rPr lang="zh-CN" altLang="en-US" dirty="0">
                <a:latin typeface="宋体" panose="02010600030101010101" pitchFamily="2" charset="-122"/>
                <a:ea typeface="宋体" panose="02010600030101010101" pitchFamily="2" charset="-122"/>
              </a:rPr>
              <a:t>睡眠质量分布：</a:t>
            </a:r>
            <a:r>
              <a:rPr lang="zh-CN" altLang="zh-CN" dirty="0">
                <a:latin typeface="宋体" panose="02010600030101010101" pitchFamily="2" charset="-122"/>
                <a:ea typeface="宋体" panose="02010600030101010101" pitchFamily="2" charset="-122"/>
              </a:rPr>
              <a:t>选定一个分类标准（主要来自“个人生理指标”、“环境因素”中的特征列）和一个睡眠指标（来自“睡眠情况指标”中的特征），即可显示对应的嵌套环形图。其中的内侧扇形图显示的是数据在当前选定的“分类标准”上的分布。点击中间扇形区域以选定不同的目标人群，此时外侧环形就会显示该目标人群在选定的“睡眠指标”上的分布。</a:t>
            </a:r>
            <a:endParaRPr lang="zh-CN" altLang="en-US" dirty="0">
              <a:latin typeface="宋体" panose="02010600030101010101" pitchFamily="2" charset="-122"/>
              <a:ea typeface="宋体" panose="02010600030101010101" pitchFamily="2" charset="-122"/>
            </a:endParaRPr>
          </a:p>
        </p:txBody>
      </p:sp>
      <p:pic>
        <p:nvPicPr>
          <p:cNvPr id="9" name="图片 8">
            <a:extLst>
              <a:ext uri="{FF2B5EF4-FFF2-40B4-BE49-F238E27FC236}">
                <a16:creationId xmlns:a16="http://schemas.microsoft.com/office/drawing/2014/main" id="{D728DC2F-29C6-4317-BE18-747A6886BE45}"/>
              </a:ext>
            </a:extLst>
          </p:cNvPr>
          <p:cNvPicPr/>
          <p:nvPr/>
        </p:nvPicPr>
        <p:blipFill>
          <a:blip r:embed="rId3"/>
          <a:stretch>
            <a:fillRect/>
          </a:stretch>
        </p:blipFill>
        <p:spPr>
          <a:xfrm>
            <a:off x="1843511" y="1234509"/>
            <a:ext cx="8504978" cy="3993796"/>
          </a:xfrm>
          <a:prstGeom prst="rect">
            <a:avLst/>
          </a:prstGeom>
        </p:spPr>
      </p:pic>
    </p:spTree>
    <p:extLst>
      <p:ext uri="{BB962C8B-B14F-4D97-AF65-F5344CB8AC3E}">
        <p14:creationId xmlns:p14="http://schemas.microsoft.com/office/powerpoint/2010/main" val="3924433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18</a:t>
            </a:fld>
            <a:endParaRPr lang="zh-CN" altLang="en-US" noProof="0"/>
          </a:p>
        </p:txBody>
      </p:sp>
      <p:sp>
        <p:nvSpPr>
          <p:cNvPr id="3" name="文本框 2">
            <a:extLst>
              <a:ext uri="{FF2B5EF4-FFF2-40B4-BE49-F238E27FC236}">
                <a16:creationId xmlns:a16="http://schemas.microsoft.com/office/drawing/2014/main" id="{179731BB-9A57-4BAE-B837-22DB9E21A2E8}"/>
              </a:ext>
            </a:extLst>
          </p:cNvPr>
          <p:cNvSpPr txBox="1"/>
          <p:nvPr/>
        </p:nvSpPr>
        <p:spPr>
          <a:xfrm>
            <a:off x="624117" y="445019"/>
            <a:ext cx="2692397"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睡眠质量分布</a:t>
            </a:r>
          </a:p>
        </p:txBody>
      </p:sp>
      <p:sp>
        <p:nvSpPr>
          <p:cNvPr id="5" name="文本框 4">
            <a:extLst>
              <a:ext uri="{FF2B5EF4-FFF2-40B4-BE49-F238E27FC236}">
                <a16:creationId xmlns:a16="http://schemas.microsoft.com/office/drawing/2014/main" id="{F70D235F-2FC9-4DC2-BEFA-D408D93D04E2}"/>
              </a:ext>
            </a:extLst>
          </p:cNvPr>
          <p:cNvSpPr txBox="1"/>
          <p:nvPr/>
        </p:nvSpPr>
        <p:spPr>
          <a:xfrm>
            <a:off x="1486804" y="5433020"/>
            <a:ext cx="9218387" cy="923330"/>
          </a:xfrm>
          <a:prstGeom prst="rect">
            <a:avLst/>
          </a:prstGeom>
          <a:noFill/>
        </p:spPr>
        <p:txBody>
          <a:bodyPr wrap="square">
            <a:spAutoFit/>
          </a:bodyPr>
          <a:lstStyle/>
          <a:p>
            <a:r>
              <a:rPr lang="zh-CN" altLang="en-US" dirty="0">
                <a:latin typeface="宋体" panose="02010600030101010101" pitchFamily="2" charset="-122"/>
                <a:ea typeface="宋体" panose="02010600030101010101" pitchFamily="2" charset="-122"/>
              </a:rPr>
              <a:t>睡眠质量分布：</a:t>
            </a:r>
            <a:r>
              <a:rPr lang="zh-CN" altLang="zh-CN" dirty="0">
                <a:latin typeface="宋体" panose="02010600030101010101" pitchFamily="2" charset="-122"/>
                <a:ea typeface="宋体" panose="02010600030101010101" pitchFamily="2" charset="-122"/>
              </a:rPr>
              <a:t>拖动对应的扇形或环形区域至下方的柱状图，或者取消显示对应图例，可以实现对应数据的柱状图显示，便于作数据对比与分析；同样的，将柱状图拖回或者重新显示对应图例可以恢复扇形或环形区域的显示</a:t>
            </a:r>
            <a:r>
              <a:rPr lang="zh-CN" altLang="en-US" dirty="0">
                <a:latin typeface="宋体" panose="02010600030101010101" pitchFamily="2" charset="-122"/>
                <a:ea typeface="宋体" panose="02010600030101010101" pitchFamily="2" charset="-122"/>
              </a:rPr>
              <a:t>。</a:t>
            </a:r>
            <a:endParaRPr lang="zh-CN" altLang="en-US" dirty="0"/>
          </a:p>
        </p:txBody>
      </p:sp>
      <p:pic>
        <p:nvPicPr>
          <p:cNvPr id="7" name="图片 6">
            <a:extLst>
              <a:ext uri="{FF2B5EF4-FFF2-40B4-BE49-F238E27FC236}">
                <a16:creationId xmlns:a16="http://schemas.microsoft.com/office/drawing/2014/main" id="{D2058D3D-ECA0-40A9-ACEC-480B613909EB}"/>
              </a:ext>
            </a:extLst>
          </p:cNvPr>
          <p:cNvPicPr/>
          <p:nvPr/>
        </p:nvPicPr>
        <p:blipFill>
          <a:blip r:embed="rId3"/>
          <a:stretch>
            <a:fillRect/>
          </a:stretch>
        </p:blipFill>
        <p:spPr>
          <a:xfrm>
            <a:off x="1843510" y="1233956"/>
            <a:ext cx="8504979" cy="3993746"/>
          </a:xfrm>
          <a:prstGeom prst="rect">
            <a:avLst/>
          </a:prstGeom>
        </p:spPr>
      </p:pic>
    </p:spTree>
    <p:extLst>
      <p:ext uri="{BB962C8B-B14F-4D97-AF65-F5344CB8AC3E}">
        <p14:creationId xmlns:p14="http://schemas.microsoft.com/office/powerpoint/2010/main" val="360438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19</a:t>
            </a:fld>
            <a:endParaRPr lang="zh-CN" altLang="en-US" noProof="0"/>
          </a:p>
        </p:txBody>
      </p:sp>
      <p:sp>
        <p:nvSpPr>
          <p:cNvPr id="3" name="文本框 2">
            <a:extLst>
              <a:ext uri="{FF2B5EF4-FFF2-40B4-BE49-F238E27FC236}">
                <a16:creationId xmlns:a16="http://schemas.microsoft.com/office/drawing/2014/main" id="{47D4DA0B-88DC-4B7D-91D2-7A8134026E27}"/>
              </a:ext>
            </a:extLst>
          </p:cNvPr>
          <p:cNvSpPr txBox="1"/>
          <p:nvPr/>
        </p:nvSpPr>
        <p:spPr>
          <a:xfrm>
            <a:off x="624118" y="445019"/>
            <a:ext cx="2278740"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全球分布图</a:t>
            </a:r>
          </a:p>
        </p:txBody>
      </p:sp>
      <p:pic>
        <p:nvPicPr>
          <p:cNvPr id="7" name="图片 6">
            <a:extLst>
              <a:ext uri="{FF2B5EF4-FFF2-40B4-BE49-F238E27FC236}">
                <a16:creationId xmlns:a16="http://schemas.microsoft.com/office/drawing/2014/main" id="{B17E8228-CF5E-45E8-A4B2-F79179DB1AF2}"/>
              </a:ext>
            </a:extLst>
          </p:cNvPr>
          <p:cNvPicPr/>
          <p:nvPr/>
        </p:nvPicPr>
        <p:blipFill>
          <a:blip r:embed="rId3"/>
          <a:stretch>
            <a:fillRect/>
          </a:stretch>
        </p:blipFill>
        <p:spPr>
          <a:xfrm>
            <a:off x="1843508" y="1246598"/>
            <a:ext cx="8504978" cy="3981104"/>
          </a:xfrm>
          <a:prstGeom prst="rect">
            <a:avLst/>
          </a:prstGeom>
        </p:spPr>
      </p:pic>
      <p:sp>
        <p:nvSpPr>
          <p:cNvPr id="8" name="文本框 7">
            <a:extLst>
              <a:ext uri="{FF2B5EF4-FFF2-40B4-BE49-F238E27FC236}">
                <a16:creationId xmlns:a16="http://schemas.microsoft.com/office/drawing/2014/main" id="{A0A65514-BDFE-4D7A-A4CC-7E1B1076839F}"/>
              </a:ext>
            </a:extLst>
          </p:cNvPr>
          <p:cNvSpPr txBox="1"/>
          <p:nvPr/>
        </p:nvSpPr>
        <p:spPr>
          <a:xfrm>
            <a:off x="1413325" y="5489651"/>
            <a:ext cx="9365343" cy="923330"/>
          </a:xfrm>
          <a:prstGeom prst="rect">
            <a:avLst/>
          </a:prstGeom>
          <a:noFill/>
        </p:spPr>
        <p:txBody>
          <a:bodyPr wrap="square">
            <a:spAutoFit/>
          </a:bodyPr>
          <a:lstStyle/>
          <a:p>
            <a:r>
              <a:rPr lang="zh-CN" altLang="en-US" dirty="0">
                <a:latin typeface="宋体" panose="02010600030101010101" pitchFamily="2" charset="-122"/>
                <a:ea typeface="宋体" panose="02010600030101010101" pitchFamily="2" charset="-122"/>
              </a:rPr>
              <a:t>全球分布图：</a:t>
            </a:r>
            <a:r>
              <a:rPr lang="zh-CN" altLang="zh-CN" dirty="0">
                <a:latin typeface="宋体" panose="02010600030101010101" pitchFamily="2" charset="-122"/>
                <a:ea typeface="宋体" panose="02010600030101010101" pitchFamily="2" charset="-122"/>
              </a:rPr>
              <a:t>通过</a:t>
            </a:r>
            <a:r>
              <a:rPr lang="en-US" altLang="zh-CN" dirty="0" err="1">
                <a:latin typeface="宋体" panose="02010600030101010101" pitchFamily="2" charset="-122"/>
                <a:ea typeface="宋体" panose="02010600030101010101" pitchFamily="2" charset="-122"/>
              </a:rPr>
              <a:t>ECharts</a:t>
            </a:r>
            <a:r>
              <a:rPr lang="zh-CN" altLang="zh-CN" dirty="0">
                <a:latin typeface="宋体" panose="02010600030101010101" pitchFamily="2" charset="-122"/>
                <a:ea typeface="宋体" panose="02010600030101010101" pitchFamily="2" charset="-122"/>
              </a:rPr>
              <a:t>的世界地图显示数据在不同国家的分布情况，左下角可以调整数据显示范围可以选择性地显示对应数据范围的国家分布。鼠标悬浮在对应国家还可以显示对应的综合指标</a:t>
            </a:r>
            <a:r>
              <a:rPr lang="zh-CN" altLang="en-US" dirty="0">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val="1145190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20</a:t>
            </a:fld>
            <a:endParaRPr lang="zh-CN" altLang="en-US" noProof="0"/>
          </a:p>
        </p:txBody>
      </p:sp>
      <p:sp>
        <p:nvSpPr>
          <p:cNvPr id="3" name="文本框 2">
            <a:extLst>
              <a:ext uri="{FF2B5EF4-FFF2-40B4-BE49-F238E27FC236}">
                <a16:creationId xmlns:a16="http://schemas.microsoft.com/office/drawing/2014/main" id="{47D4DA0B-88DC-4B7D-91D2-7A8134026E27}"/>
              </a:ext>
            </a:extLst>
          </p:cNvPr>
          <p:cNvSpPr txBox="1"/>
          <p:nvPr/>
        </p:nvSpPr>
        <p:spPr>
          <a:xfrm>
            <a:off x="624118" y="445019"/>
            <a:ext cx="2656111"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睡眠结构分析</a:t>
            </a:r>
          </a:p>
        </p:txBody>
      </p:sp>
      <p:pic>
        <p:nvPicPr>
          <p:cNvPr id="4" name="图片 3">
            <a:extLst>
              <a:ext uri="{FF2B5EF4-FFF2-40B4-BE49-F238E27FC236}">
                <a16:creationId xmlns:a16="http://schemas.microsoft.com/office/drawing/2014/main" id="{BA8A94A1-98A3-4A2D-9120-D61D5EC9C676}"/>
              </a:ext>
            </a:extLst>
          </p:cNvPr>
          <p:cNvPicPr/>
          <p:nvPr/>
        </p:nvPicPr>
        <p:blipFill>
          <a:blip r:embed="rId3"/>
          <a:stretch>
            <a:fillRect/>
          </a:stretch>
        </p:blipFill>
        <p:spPr>
          <a:xfrm>
            <a:off x="1843508" y="1246597"/>
            <a:ext cx="8525424" cy="3981103"/>
          </a:xfrm>
          <a:prstGeom prst="rect">
            <a:avLst/>
          </a:prstGeom>
        </p:spPr>
      </p:pic>
      <p:sp>
        <p:nvSpPr>
          <p:cNvPr id="5" name="文本框 4">
            <a:extLst>
              <a:ext uri="{FF2B5EF4-FFF2-40B4-BE49-F238E27FC236}">
                <a16:creationId xmlns:a16="http://schemas.microsoft.com/office/drawing/2014/main" id="{3346FEE1-9EF3-4FC4-8719-B86BB437F190}"/>
              </a:ext>
            </a:extLst>
          </p:cNvPr>
          <p:cNvSpPr txBox="1"/>
          <p:nvPr/>
        </p:nvSpPr>
        <p:spPr>
          <a:xfrm>
            <a:off x="1238250" y="5338583"/>
            <a:ext cx="9715500" cy="1200329"/>
          </a:xfrm>
          <a:prstGeom prst="rect">
            <a:avLst/>
          </a:prstGeom>
          <a:noFill/>
        </p:spPr>
        <p:txBody>
          <a:bodyPr wrap="square">
            <a:spAutoFit/>
          </a:bodyPr>
          <a:lstStyle/>
          <a:p>
            <a:r>
              <a:rPr lang="zh-CN" altLang="en-US" dirty="0">
                <a:latin typeface="宋体" panose="02010600030101010101" pitchFamily="2" charset="-122"/>
                <a:ea typeface="宋体" panose="02010600030101010101" pitchFamily="2" charset="-122"/>
              </a:rPr>
              <a:t>睡眠结构分析：</a:t>
            </a:r>
            <a:r>
              <a:rPr lang="zh-CN" altLang="zh-CN" dirty="0">
                <a:latin typeface="宋体" panose="02010600030101010101" pitchFamily="2" charset="-122"/>
                <a:ea typeface="宋体" panose="02010600030101010101" pitchFamily="2" charset="-122"/>
              </a:rPr>
              <a:t>该界面是双</a:t>
            </a:r>
            <a:r>
              <a:rPr lang="en-US" altLang="zh-CN" dirty="0">
                <a:latin typeface="宋体" panose="02010600030101010101" pitchFamily="2" charset="-122"/>
                <a:ea typeface="宋体" panose="02010600030101010101" pitchFamily="2" charset="-122"/>
              </a:rPr>
              <a:t>Y</a:t>
            </a:r>
            <a:r>
              <a:rPr lang="zh-CN" altLang="zh-CN" dirty="0">
                <a:latin typeface="宋体" panose="02010600030101010101" pitchFamily="2" charset="-122"/>
                <a:ea typeface="宋体" panose="02010600030101010101" pitchFamily="2" charset="-122"/>
              </a:rPr>
              <a:t>轴组合式复合图表。</a:t>
            </a:r>
            <a:r>
              <a:rPr lang="en-US" altLang="zh-CN" dirty="0">
                <a:latin typeface="宋体" panose="02010600030101010101" pitchFamily="2" charset="-122"/>
                <a:ea typeface="宋体" panose="02010600030101010101" pitchFamily="2" charset="-122"/>
              </a:rPr>
              <a:t>Y</a:t>
            </a:r>
            <a:r>
              <a:rPr lang="zh-CN" altLang="zh-CN" dirty="0">
                <a:latin typeface="宋体" panose="02010600030101010101" pitchFamily="2" charset="-122"/>
                <a:ea typeface="宋体" panose="02010600030101010101" pitchFamily="2" charset="-122"/>
              </a:rPr>
              <a:t>轴分别表示“平均睡眠时长”和“平均睡眠质量评分</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平均夜间醒来次数”。柱体的总高度表示该类人群的“平均睡眠总时长”，柱体内部的颜色划分表示“深睡眠、浅睡眠、</a:t>
            </a:r>
            <a:r>
              <a:rPr lang="en-US" altLang="zh-CN" dirty="0">
                <a:latin typeface="宋体" panose="02010600030101010101" pitchFamily="2" charset="-122"/>
                <a:ea typeface="宋体" panose="02010600030101010101" pitchFamily="2" charset="-122"/>
              </a:rPr>
              <a:t>REM</a:t>
            </a:r>
            <a:r>
              <a:rPr lang="zh-CN" altLang="zh-CN" dirty="0">
                <a:latin typeface="宋体" panose="02010600030101010101" pitchFamily="2" charset="-122"/>
                <a:ea typeface="宋体" panose="02010600030101010101" pitchFamily="2" charset="-122"/>
              </a:rPr>
              <a:t>睡眠”在整个睡眠时长中的平均占比；红色折线图表示“平均夜间醒来次数”，黄色折线表示“平均睡眠质量评分”。</a:t>
            </a:r>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182141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21</a:t>
            </a:fld>
            <a:endParaRPr lang="zh-CN" altLang="en-US" noProof="0"/>
          </a:p>
        </p:txBody>
      </p:sp>
      <p:sp>
        <p:nvSpPr>
          <p:cNvPr id="3" name="文本框 2">
            <a:extLst>
              <a:ext uri="{FF2B5EF4-FFF2-40B4-BE49-F238E27FC236}">
                <a16:creationId xmlns:a16="http://schemas.microsoft.com/office/drawing/2014/main" id="{47D4DA0B-88DC-4B7D-91D2-7A8134026E27}"/>
              </a:ext>
            </a:extLst>
          </p:cNvPr>
          <p:cNvSpPr txBox="1"/>
          <p:nvPr/>
        </p:nvSpPr>
        <p:spPr>
          <a:xfrm>
            <a:off x="624118" y="445019"/>
            <a:ext cx="2656111"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睡眠结构分析</a:t>
            </a:r>
          </a:p>
        </p:txBody>
      </p:sp>
      <p:sp>
        <p:nvSpPr>
          <p:cNvPr id="8" name="文本框 7">
            <a:extLst>
              <a:ext uri="{FF2B5EF4-FFF2-40B4-BE49-F238E27FC236}">
                <a16:creationId xmlns:a16="http://schemas.microsoft.com/office/drawing/2014/main" id="{55813718-E88B-44CA-8136-66618F76A2B1}"/>
              </a:ext>
            </a:extLst>
          </p:cNvPr>
          <p:cNvSpPr txBox="1"/>
          <p:nvPr/>
        </p:nvSpPr>
        <p:spPr>
          <a:xfrm>
            <a:off x="1093107" y="5338583"/>
            <a:ext cx="10005785" cy="1200329"/>
          </a:xfrm>
          <a:prstGeom prst="rect">
            <a:avLst/>
          </a:prstGeom>
          <a:noFill/>
        </p:spPr>
        <p:txBody>
          <a:bodyPr wrap="square">
            <a:spAutoFit/>
          </a:bodyPr>
          <a:lstStyle/>
          <a:p>
            <a:pPr algn="l"/>
            <a:r>
              <a:rPr lang="zh-CN" altLang="en-US" dirty="0">
                <a:latin typeface="宋体" panose="02010600030101010101" pitchFamily="2" charset="-122"/>
                <a:ea typeface="宋体" panose="02010600030101010101" pitchFamily="2" charset="-122"/>
              </a:rPr>
              <a:t>睡眠结构分析：</a:t>
            </a:r>
            <a:r>
              <a:rPr lang="zh-CN" altLang="zh-CN" dirty="0">
                <a:latin typeface="宋体" panose="02010600030101010101" pitchFamily="2" charset="-122"/>
                <a:ea typeface="宋体" panose="02010600030101010101" pitchFamily="2" charset="-122"/>
              </a:rPr>
              <a:t>点击最顶上的三个按键（性别、睡眠类型、心理健康）可以决定是否在图上显示此分类的可视化元素。这三个按键下方的五个按键（深度睡眠、</a:t>
            </a:r>
            <a:r>
              <a:rPr lang="en-US" altLang="zh-CN" dirty="0">
                <a:latin typeface="宋体" panose="02010600030101010101" pitchFamily="2" charset="-122"/>
                <a:ea typeface="宋体" panose="02010600030101010101" pitchFamily="2" charset="-122"/>
              </a:rPr>
              <a:t>REM</a:t>
            </a:r>
            <a:r>
              <a:rPr lang="zh-CN" altLang="zh-CN" dirty="0">
                <a:latin typeface="宋体" panose="02010600030101010101" pitchFamily="2" charset="-122"/>
                <a:ea typeface="宋体" panose="02010600030101010101" pitchFamily="2" charset="-122"/>
              </a:rPr>
              <a:t>睡眠、浅睡眠、睡眠质量评分、夜间醒来次数）点击后可以决定是否在图中显示该指标的可视化元素。底部的滑块可以限定纳入统计的数据的年龄范围。最后，把鼠标移到滑块上方，能看到各个指标具体的数值。</a:t>
            </a:r>
          </a:p>
        </p:txBody>
      </p:sp>
      <p:pic>
        <p:nvPicPr>
          <p:cNvPr id="10" name="图片 9">
            <a:extLst>
              <a:ext uri="{FF2B5EF4-FFF2-40B4-BE49-F238E27FC236}">
                <a16:creationId xmlns:a16="http://schemas.microsoft.com/office/drawing/2014/main" id="{D227BDF0-EC8B-4189-968A-19E06F8E5D63}"/>
              </a:ext>
            </a:extLst>
          </p:cNvPr>
          <p:cNvPicPr/>
          <p:nvPr/>
        </p:nvPicPr>
        <p:blipFill>
          <a:blip r:embed="rId3"/>
          <a:stretch>
            <a:fillRect/>
          </a:stretch>
        </p:blipFill>
        <p:spPr>
          <a:xfrm>
            <a:off x="1843508" y="1246597"/>
            <a:ext cx="8504984" cy="3985156"/>
          </a:xfrm>
          <a:prstGeom prst="rect">
            <a:avLst/>
          </a:prstGeom>
        </p:spPr>
      </p:pic>
    </p:spTree>
    <p:extLst>
      <p:ext uri="{BB962C8B-B14F-4D97-AF65-F5344CB8AC3E}">
        <p14:creationId xmlns:p14="http://schemas.microsoft.com/office/powerpoint/2010/main" val="1140000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22</a:t>
            </a:fld>
            <a:endParaRPr lang="zh-CN" altLang="en-US" noProof="0"/>
          </a:p>
        </p:txBody>
      </p:sp>
      <p:sp>
        <p:nvSpPr>
          <p:cNvPr id="7" name="文本框 6">
            <a:extLst>
              <a:ext uri="{FF2B5EF4-FFF2-40B4-BE49-F238E27FC236}">
                <a16:creationId xmlns:a16="http://schemas.microsoft.com/office/drawing/2014/main" id="{A2F7F7BC-C683-41BA-9971-BF0333DF95C2}"/>
              </a:ext>
            </a:extLst>
          </p:cNvPr>
          <p:cNvSpPr txBox="1"/>
          <p:nvPr/>
        </p:nvSpPr>
        <p:spPr>
          <a:xfrm>
            <a:off x="624118" y="445019"/>
            <a:ext cx="2278740"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热力图分析</a:t>
            </a:r>
          </a:p>
        </p:txBody>
      </p:sp>
      <p:pic>
        <p:nvPicPr>
          <p:cNvPr id="9" name="图片 8">
            <a:extLst>
              <a:ext uri="{FF2B5EF4-FFF2-40B4-BE49-F238E27FC236}">
                <a16:creationId xmlns:a16="http://schemas.microsoft.com/office/drawing/2014/main" id="{EC531685-72ED-4634-90C0-D63B1ECE62EB}"/>
              </a:ext>
            </a:extLst>
          </p:cNvPr>
          <p:cNvPicPr/>
          <p:nvPr/>
        </p:nvPicPr>
        <p:blipFill>
          <a:blip r:embed="rId3"/>
          <a:stretch>
            <a:fillRect/>
          </a:stretch>
        </p:blipFill>
        <p:spPr>
          <a:xfrm>
            <a:off x="1843507" y="1246598"/>
            <a:ext cx="8504978" cy="3987432"/>
          </a:xfrm>
          <a:prstGeom prst="rect">
            <a:avLst/>
          </a:prstGeom>
        </p:spPr>
      </p:pic>
      <p:sp>
        <p:nvSpPr>
          <p:cNvPr id="11" name="文本框 10">
            <a:extLst>
              <a:ext uri="{FF2B5EF4-FFF2-40B4-BE49-F238E27FC236}">
                <a16:creationId xmlns:a16="http://schemas.microsoft.com/office/drawing/2014/main" id="{A97B53AF-EE39-4B23-8D44-AE8FB9D68391}"/>
              </a:ext>
            </a:extLst>
          </p:cNvPr>
          <p:cNvSpPr txBox="1"/>
          <p:nvPr/>
        </p:nvSpPr>
        <p:spPr>
          <a:xfrm>
            <a:off x="1284508" y="5489651"/>
            <a:ext cx="9622976" cy="923330"/>
          </a:xfrm>
          <a:prstGeom prst="rect">
            <a:avLst/>
          </a:prstGeom>
          <a:noFill/>
        </p:spPr>
        <p:txBody>
          <a:bodyPr wrap="square">
            <a:spAutoFit/>
          </a:bodyPr>
          <a:lstStyle/>
          <a:p>
            <a:r>
              <a:rPr lang="zh-CN" altLang="en-US" dirty="0">
                <a:latin typeface="宋体" panose="02010600030101010101" pitchFamily="2" charset="-122"/>
                <a:ea typeface="宋体" panose="02010600030101010101" pitchFamily="2" charset="-122"/>
              </a:rPr>
              <a:t>热力图分析：数</a:t>
            </a:r>
            <a:r>
              <a:rPr lang="zh-CN" altLang="zh-CN" dirty="0">
                <a:latin typeface="宋体" panose="02010600030101010101" pitchFamily="2" charset="-122"/>
                <a:ea typeface="宋体" panose="02010600030101010101" pitchFamily="2" charset="-122"/>
              </a:rPr>
              <a:t>据在两个不同特征维度上的热力图，从中可以看出数据分布，也能看出两两特征之间的相关性（正相关、负相关、无关）。正上方五个按键是预设的五对特征关系。我们也可以自定义“</a:t>
            </a:r>
            <a:r>
              <a:rPr lang="en-US" altLang="zh-CN" dirty="0">
                <a:latin typeface="宋体" panose="02010600030101010101" pitchFamily="2" charset="-122"/>
                <a:ea typeface="宋体" panose="02010600030101010101" pitchFamily="2" charset="-122"/>
              </a:rPr>
              <a:t>X/Y</a:t>
            </a:r>
            <a:r>
              <a:rPr lang="zh-CN" altLang="zh-CN" dirty="0">
                <a:latin typeface="宋体" panose="02010600030101010101" pitchFamily="2" charset="-122"/>
                <a:ea typeface="宋体" panose="02010600030101010101" pitchFamily="2" charset="-122"/>
              </a:rPr>
              <a:t>字段”、“</a:t>
            </a:r>
            <a:r>
              <a:rPr lang="en-US" altLang="zh-CN" dirty="0">
                <a:latin typeface="宋体" panose="02010600030101010101" pitchFamily="2" charset="-122"/>
                <a:ea typeface="宋体" panose="02010600030101010101" pitchFamily="2" charset="-122"/>
              </a:rPr>
              <a:t>X/Y</a:t>
            </a:r>
            <a:r>
              <a:rPr lang="zh-CN" altLang="zh-CN" dirty="0">
                <a:latin typeface="宋体" panose="02010600030101010101" pitchFamily="2" charset="-122"/>
                <a:ea typeface="宋体" panose="02010600030101010101" pitchFamily="2" charset="-122"/>
              </a:rPr>
              <a:t>起止值”、“</a:t>
            </a:r>
            <a:r>
              <a:rPr lang="en-US" altLang="zh-CN" dirty="0">
                <a:latin typeface="宋体" panose="02010600030101010101" pitchFamily="2" charset="-122"/>
                <a:ea typeface="宋体" panose="02010600030101010101" pitchFamily="2" charset="-122"/>
              </a:rPr>
              <a:t>X/Y</a:t>
            </a:r>
            <a:r>
              <a:rPr lang="zh-CN" altLang="zh-CN" dirty="0">
                <a:latin typeface="宋体" panose="02010600030101010101" pitchFamily="2" charset="-122"/>
                <a:ea typeface="宋体" panose="02010600030101010101" pitchFamily="2" charset="-122"/>
              </a:rPr>
              <a:t>步长”，以得到更多特征之间的隐含信息。</a:t>
            </a:r>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9971677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23</a:t>
            </a:fld>
            <a:endParaRPr lang="zh-CN" altLang="en-US" noProof="0"/>
          </a:p>
        </p:txBody>
      </p:sp>
      <p:pic>
        <p:nvPicPr>
          <p:cNvPr id="3" name="图片 2">
            <a:extLst>
              <a:ext uri="{FF2B5EF4-FFF2-40B4-BE49-F238E27FC236}">
                <a16:creationId xmlns:a16="http://schemas.microsoft.com/office/drawing/2014/main" id="{6C187EDE-7678-4D6A-9FBA-FC2700EC1756}"/>
              </a:ext>
            </a:extLst>
          </p:cNvPr>
          <p:cNvPicPr/>
          <p:nvPr/>
        </p:nvPicPr>
        <p:blipFill>
          <a:blip r:embed="rId3"/>
          <a:stretch>
            <a:fillRect/>
          </a:stretch>
        </p:blipFill>
        <p:spPr>
          <a:xfrm>
            <a:off x="1839946" y="1246598"/>
            <a:ext cx="8490396" cy="3987432"/>
          </a:xfrm>
          <a:prstGeom prst="rect">
            <a:avLst/>
          </a:prstGeom>
        </p:spPr>
      </p:pic>
      <p:sp>
        <p:nvSpPr>
          <p:cNvPr id="4" name="文本框 3">
            <a:extLst>
              <a:ext uri="{FF2B5EF4-FFF2-40B4-BE49-F238E27FC236}">
                <a16:creationId xmlns:a16="http://schemas.microsoft.com/office/drawing/2014/main" id="{4EDC4ACB-E413-409B-8998-38E0FF3AAFA2}"/>
              </a:ext>
            </a:extLst>
          </p:cNvPr>
          <p:cNvSpPr txBox="1"/>
          <p:nvPr/>
        </p:nvSpPr>
        <p:spPr>
          <a:xfrm>
            <a:off x="624118" y="445019"/>
            <a:ext cx="2278740"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热力图分析</a:t>
            </a:r>
          </a:p>
        </p:txBody>
      </p:sp>
      <p:sp>
        <p:nvSpPr>
          <p:cNvPr id="7" name="文本框 6">
            <a:extLst>
              <a:ext uri="{FF2B5EF4-FFF2-40B4-BE49-F238E27FC236}">
                <a16:creationId xmlns:a16="http://schemas.microsoft.com/office/drawing/2014/main" id="{2BEACBCE-646C-43E1-99B3-FA01D5EF1187}"/>
              </a:ext>
            </a:extLst>
          </p:cNvPr>
          <p:cNvSpPr txBox="1"/>
          <p:nvPr/>
        </p:nvSpPr>
        <p:spPr>
          <a:xfrm>
            <a:off x="2661557" y="5521079"/>
            <a:ext cx="6868885" cy="369332"/>
          </a:xfrm>
          <a:prstGeom prst="rect">
            <a:avLst/>
          </a:prstGeom>
          <a:noFill/>
        </p:spPr>
        <p:txBody>
          <a:bodyPr wrap="square">
            <a:spAutoFit/>
          </a:bodyPr>
          <a:lstStyle/>
          <a:p>
            <a:pPr algn="ctr"/>
            <a:r>
              <a:rPr lang="zh-CN" altLang="zh-CN" dirty="0">
                <a:latin typeface="宋体" panose="02010600030101010101" pitchFamily="2" charset="-122"/>
                <a:ea typeface="宋体" panose="02010600030101010101" pitchFamily="2" charset="-122"/>
              </a:rPr>
              <a:t>热力图分析：下方控件可以调整显示的范围（高光的是当前下界）</a:t>
            </a:r>
          </a:p>
        </p:txBody>
      </p:sp>
    </p:spTree>
    <p:extLst>
      <p:ext uri="{BB962C8B-B14F-4D97-AF65-F5344CB8AC3E}">
        <p14:creationId xmlns:p14="http://schemas.microsoft.com/office/powerpoint/2010/main" val="1180497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24</a:t>
            </a:fld>
            <a:endParaRPr lang="zh-CN" altLang="en-US" noProof="0"/>
          </a:p>
        </p:txBody>
      </p:sp>
      <p:sp>
        <p:nvSpPr>
          <p:cNvPr id="3" name="文本框 2">
            <a:extLst>
              <a:ext uri="{FF2B5EF4-FFF2-40B4-BE49-F238E27FC236}">
                <a16:creationId xmlns:a16="http://schemas.microsoft.com/office/drawing/2014/main" id="{D5F14AEB-E340-4840-A389-FE67DD11CF0D}"/>
              </a:ext>
            </a:extLst>
          </p:cNvPr>
          <p:cNvSpPr txBox="1"/>
          <p:nvPr/>
        </p:nvSpPr>
        <p:spPr>
          <a:xfrm>
            <a:off x="624117" y="445019"/>
            <a:ext cx="2772225"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睡前行为分析</a:t>
            </a:r>
          </a:p>
        </p:txBody>
      </p:sp>
      <p:sp>
        <p:nvSpPr>
          <p:cNvPr id="9" name="文本框 8">
            <a:extLst>
              <a:ext uri="{FF2B5EF4-FFF2-40B4-BE49-F238E27FC236}">
                <a16:creationId xmlns:a16="http://schemas.microsoft.com/office/drawing/2014/main" id="{2D92E61D-104F-4A94-8837-B90FF0812918}"/>
              </a:ext>
            </a:extLst>
          </p:cNvPr>
          <p:cNvSpPr txBox="1"/>
          <p:nvPr/>
        </p:nvSpPr>
        <p:spPr>
          <a:xfrm>
            <a:off x="1245960" y="5338583"/>
            <a:ext cx="9700079" cy="1200329"/>
          </a:xfrm>
          <a:prstGeom prst="rect">
            <a:avLst/>
          </a:prstGeom>
          <a:noFill/>
        </p:spPr>
        <p:txBody>
          <a:bodyPr wrap="square">
            <a:spAutoFit/>
          </a:bodyPr>
          <a:lstStyle/>
          <a:p>
            <a:r>
              <a:rPr lang="zh-CN" altLang="en-US" dirty="0">
                <a:latin typeface="宋体" panose="02010600030101010101" pitchFamily="2" charset="-122"/>
                <a:ea typeface="宋体" panose="02010600030101010101" pitchFamily="2" charset="-122"/>
              </a:rPr>
              <a:t>睡前行为分析：</a:t>
            </a:r>
            <a:r>
              <a:rPr lang="zh-CN" altLang="zh-CN" dirty="0">
                <a:latin typeface="宋体" panose="02010600030101010101" pitchFamily="2" charset="-122"/>
                <a:ea typeface="宋体" panose="02010600030101010101" pitchFamily="2" charset="-122"/>
              </a:rPr>
              <a:t>展示了“职业”不同职业在“睡前看屏时间”、“睡前摄入咖啡因”以及 “入睡潜伏期”上的差异。睡眠潜伏期长，从体感上来说就是躺在床上睡不着。下图中横轴是平均睡前屏幕时间，纵轴是平均入睡潜伏期，不同的点表示不同职业，点的大小表示数据中属于该职业的人数，点的颜色深浅表示睡前摄入咖啡因量的多少。</a:t>
            </a:r>
            <a:endParaRPr lang="zh-CN" altLang="en-US" dirty="0">
              <a:latin typeface="宋体" panose="02010600030101010101" pitchFamily="2" charset="-122"/>
              <a:ea typeface="宋体" panose="02010600030101010101" pitchFamily="2" charset="-122"/>
            </a:endParaRPr>
          </a:p>
        </p:txBody>
      </p:sp>
      <p:pic>
        <p:nvPicPr>
          <p:cNvPr id="10" name="图片 9">
            <a:extLst>
              <a:ext uri="{FF2B5EF4-FFF2-40B4-BE49-F238E27FC236}">
                <a16:creationId xmlns:a16="http://schemas.microsoft.com/office/drawing/2014/main" id="{1C0AA07E-46D3-4D26-AF32-2094DCAC6649}"/>
              </a:ext>
            </a:extLst>
          </p:cNvPr>
          <p:cNvPicPr>
            <a:picLocks noChangeAspect="1"/>
          </p:cNvPicPr>
          <p:nvPr/>
        </p:nvPicPr>
        <p:blipFill>
          <a:blip r:embed="rId3"/>
          <a:stretch>
            <a:fillRect/>
          </a:stretch>
        </p:blipFill>
        <p:spPr>
          <a:xfrm>
            <a:off x="1839946" y="1240410"/>
            <a:ext cx="8490396" cy="3997164"/>
          </a:xfrm>
          <a:prstGeom prst="rect">
            <a:avLst/>
          </a:prstGeom>
        </p:spPr>
      </p:pic>
    </p:spTree>
    <p:extLst>
      <p:ext uri="{BB962C8B-B14F-4D97-AF65-F5344CB8AC3E}">
        <p14:creationId xmlns:p14="http://schemas.microsoft.com/office/powerpoint/2010/main" val="2234036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25</a:t>
            </a:fld>
            <a:endParaRPr lang="zh-CN" altLang="en-US" noProof="0"/>
          </a:p>
        </p:txBody>
      </p:sp>
      <p:sp>
        <p:nvSpPr>
          <p:cNvPr id="5" name="文本框 4">
            <a:extLst>
              <a:ext uri="{FF2B5EF4-FFF2-40B4-BE49-F238E27FC236}">
                <a16:creationId xmlns:a16="http://schemas.microsoft.com/office/drawing/2014/main" id="{2D5A9CF3-F829-40BC-94F0-7469C72E5223}"/>
              </a:ext>
            </a:extLst>
          </p:cNvPr>
          <p:cNvSpPr txBox="1"/>
          <p:nvPr/>
        </p:nvSpPr>
        <p:spPr>
          <a:xfrm>
            <a:off x="624117" y="445019"/>
            <a:ext cx="2772225"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维度对比分析</a:t>
            </a:r>
          </a:p>
        </p:txBody>
      </p:sp>
      <p:sp>
        <p:nvSpPr>
          <p:cNvPr id="8" name="文本框 7">
            <a:extLst>
              <a:ext uri="{FF2B5EF4-FFF2-40B4-BE49-F238E27FC236}">
                <a16:creationId xmlns:a16="http://schemas.microsoft.com/office/drawing/2014/main" id="{F95F951F-6C28-46F2-9FDB-FA6337F29544}"/>
              </a:ext>
            </a:extLst>
          </p:cNvPr>
          <p:cNvSpPr txBox="1"/>
          <p:nvPr/>
        </p:nvSpPr>
        <p:spPr>
          <a:xfrm>
            <a:off x="509814" y="5414824"/>
            <a:ext cx="11172371" cy="1200329"/>
          </a:xfrm>
          <a:prstGeom prst="rect">
            <a:avLst/>
          </a:prstGeom>
          <a:noFill/>
        </p:spPr>
        <p:txBody>
          <a:bodyPr wrap="square">
            <a:spAutoFit/>
          </a:bodyPr>
          <a:lstStyle/>
          <a:p>
            <a:r>
              <a:rPr lang="zh-CN" altLang="en-US" dirty="0">
                <a:latin typeface="宋体" panose="02010600030101010101" pitchFamily="2" charset="-122"/>
                <a:ea typeface="宋体" panose="02010600030101010101" pitchFamily="2" charset="-122"/>
              </a:rPr>
              <a:t>维度对比分析：</a:t>
            </a:r>
            <a:r>
              <a:rPr lang="zh-CN" altLang="zh-CN" dirty="0">
                <a:latin typeface="宋体" panose="02010600030101010101" pitchFamily="2" charset="-122"/>
                <a:ea typeface="宋体" panose="02010600030101010101" pitchFamily="2" charset="-122"/>
              </a:rPr>
              <a:t>展示在五个特征列（“年龄段”、“性别”、“职业”、“</a:t>
            </a:r>
            <a:r>
              <a:rPr lang="en-US" altLang="zh-CN" dirty="0">
                <a:latin typeface="宋体" panose="02010600030101010101" pitchFamily="2" charset="-122"/>
                <a:ea typeface="宋体" panose="02010600030101010101" pitchFamily="2" charset="-122"/>
              </a:rPr>
              <a:t>BMI</a:t>
            </a:r>
            <a:r>
              <a:rPr lang="zh-CN" altLang="zh-CN" dirty="0">
                <a:latin typeface="宋体" panose="02010600030101010101" pitchFamily="2" charset="-122"/>
                <a:ea typeface="宋体" panose="02010600030101010101" pitchFamily="2" charset="-122"/>
              </a:rPr>
              <a:t>”、“国家”）的分类下，不同睡眠指标的平均情况的差异是什么。界面上方可以选择不同维度，左侧图片用柱状图显示数据在所选维度上的分布情况，点击下方的选项框，可以让该分类的数据在</a:t>
            </a:r>
            <a:r>
              <a:rPr lang="en-US" altLang="zh-CN" dirty="0">
                <a:latin typeface="宋体" panose="02010600030101010101" pitchFamily="2" charset="-122"/>
                <a:ea typeface="宋体" panose="02010600030101010101" pitchFamily="2" charset="-122"/>
              </a:rPr>
              <a:t>6</a:t>
            </a:r>
            <a:r>
              <a:rPr lang="zh-CN" altLang="zh-CN" dirty="0">
                <a:latin typeface="宋体" panose="02010600030101010101" pitchFamily="2" charset="-122"/>
                <a:ea typeface="宋体" panose="02010600030101010101" pitchFamily="2" charset="-122"/>
              </a:rPr>
              <a:t>个睡眠指标上的平均值在右侧的雷达图上显示（并且在左侧的图片上将柱体高光）。如果我们点击多个分类的数据，就可以在右侧看到他们的对比结果。</a:t>
            </a:r>
            <a:endParaRPr lang="zh-CN" altLang="en-US" dirty="0">
              <a:latin typeface="宋体" panose="02010600030101010101" pitchFamily="2" charset="-122"/>
              <a:ea typeface="宋体" panose="02010600030101010101" pitchFamily="2" charset="-122"/>
            </a:endParaRPr>
          </a:p>
        </p:txBody>
      </p:sp>
      <p:pic>
        <p:nvPicPr>
          <p:cNvPr id="9" name="图片 8">
            <a:extLst>
              <a:ext uri="{FF2B5EF4-FFF2-40B4-BE49-F238E27FC236}">
                <a16:creationId xmlns:a16="http://schemas.microsoft.com/office/drawing/2014/main" id="{31AB9FF3-8AFF-45AC-AFC4-F7E6957BB433}"/>
              </a:ext>
            </a:extLst>
          </p:cNvPr>
          <p:cNvPicPr/>
          <p:nvPr/>
        </p:nvPicPr>
        <p:blipFill>
          <a:blip r:embed="rId3"/>
          <a:stretch>
            <a:fillRect/>
          </a:stretch>
        </p:blipFill>
        <p:spPr>
          <a:xfrm>
            <a:off x="1839945" y="1240410"/>
            <a:ext cx="8525021" cy="3997164"/>
          </a:xfrm>
          <a:prstGeom prst="rect">
            <a:avLst/>
          </a:prstGeom>
        </p:spPr>
      </p:pic>
    </p:spTree>
    <p:extLst>
      <p:ext uri="{BB962C8B-B14F-4D97-AF65-F5344CB8AC3E}">
        <p14:creationId xmlns:p14="http://schemas.microsoft.com/office/powerpoint/2010/main" val="3857936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26</a:t>
            </a:fld>
            <a:endParaRPr lang="zh-CN" altLang="en-US" noProof="0"/>
          </a:p>
        </p:txBody>
      </p:sp>
      <p:pic>
        <p:nvPicPr>
          <p:cNvPr id="4" name="图片 3">
            <a:extLst>
              <a:ext uri="{FF2B5EF4-FFF2-40B4-BE49-F238E27FC236}">
                <a16:creationId xmlns:a16="http://schemas.microsoft.com/office/drawing/2014/main" id="{36EFB2AC-68E5-45DD-B40D-DEE5F53C5693}"/>
              </a:ext>
            </a:extLst>
          </p:cNvPr>
          <p:cNvPicPr/>
          <p:nvPr/>
        </p:nvPicPr>
        <p:blipFill>
          <a:blip r:embed="rId3"/>
          <a:stretch>
            <a:fillRect/>
          </a:stretch>
        </p:blipFill>
        <p:spPr>
          <a:xfrm>
            <a:off x="1839945" y="1240409"/>
            <a:ext cx="8547970" cy="3997163"/>
          </a:xfrm>
          <a:prstGeom prst="rect">
            <a:avLst/>
          </a:prstGeom>
        </p:spPr>
      </p:pic>
      <p:sp>
        <p:nvSpPr>
          <p:cNvPr id="5" name="文本框 4">
            <a:extLst>
              <a:ext uri="{FF2B5EF4-FFF2-40B4-BE49-F238E27FC236}">
                <a16:creationId xmlns:a16="http://schemas.microsoft.com/office/drawing/2014/main" id="{46332099-5C23-4D19-ADBD-5F714D4C630E}"/>
              </a:ext>
            </a:extLst>
          </p:cNvPr>
          <p:cNvSpPr txBox="1"/>
          <p:nvPr/>
        </p:nvSpPr>
        <p:spPr>
          <a:xfrm>
            <a:off x="624117" y="445019"/>
            <a:ext cx="2772225"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维度对比分析</a:t>
            </a:r>
          </a:p>
        </p:txBody>
      </p:sp>
      <p:sp>
        <p:nvSpPr>
          <p:cNvPr id="7" name="文本框 6">
            <a:extLst>
              <a:ext uri="{FF2B5EF4-FFF2-40B4-BE49-F238E27FC236}">
                <a16:creationId xmlns:a16="http://schemas.microsoft.com/office/drawing/2014/main" id="{EE1B1EF6-6561-4FF8-96DA-93E058A134AA}"/>
              </a:ext>
            </a:extLst>
          </p:cNvPr>
          <p:cNvSpPr txBox="1"/>
          <p:nvPr/>
        </p:nvSpPr>
        <p:spPr>
          <a:xfrm>
            <a:off x="1286329" y="5480467"/>
            <a:ext cx="9619342" cy="923330"/>
          </a:xfrm>
          <a:prstGeom prst="rect">
            <a:avLst/>
          </a:prstGeom>
          <a:noFill/>
        </p:spPr>
        <p:txBody>
          <a:bodyPr wrap="square">
            <a:spAutoFit/>
          </a:bodyPr>
          <a:lstStyle/>
          <a:p>
            <a:pPr algn="l"/>
            <a:r>
              <a:rPr lang="zh-CN" altLang="en-US" dirty="0">
                <a:latin typeface="宋体" panose="02010600030101010101" pitchFamily="2" charset="-122"/>
                <a:ea typeface="宋体" panose="02010600030101010101" pitchFamily="2" charset="-122"/>
              </a:rPr>
              <a:t>维度对比分析：</a:t>
            </a:r>
            <a:r>
              <a:rPr lang="zh-CN" altLang="zh-CN" dirty="0">
                <a:latin typeface="宋体" panose="02010600030101010101" pitchFamily="2" charset="-122"/>
                <a:ea typeface="宋体" panose="02010600030101010101" pitchFamily="2" charset="-122"/>
              </a:rPr>
              <a:t>从中我们可以得到许多信息。比如从图</a:t>
            </a:r>
            <a:r>
              <a:rPr lang="zh-CN" altLang="en-US" dirty="0">
                <a:latin typeface="宋体" panose="02010600030101010101" pitchFamily="2" charset="-122"/>
                <a:ea typeface="宋体" panose="02010600030101010101" pitchFamily="2" charset="-122"/>
              </a:rPr>
              <a:t>中</a:t>
            </a:r>
            <a:r>
              <a:rPr lang="zh-CN" altLang="zh-CN" dirty="0">
                <a:latin typeface="宋体" panose="02010600030101010101" pitchFamily="2" charset="-122"/>
                <a:ea typeface="宋体" panose="02010600030101010101" pitchFamily="2" charset="-122"/>
              </a:rPr>
              <a:t>可以看出，退休的人相比软件工程师，“平均</a:t>
            </a:r>
            <a:r>
              <a:rPr lang="en-US" altLang="zh-CN" dirty="0">
                <a:latin typeface="宋体" panose="02010600030101010101" pitchFamily="2" charset="-122"/>
                <a:ea typeface="宋体" panose="02010600030101010101" pitchFamily="2" charset="-122"/>
              </a:rPr>
              <a:t>REM</a:t>
            </a:r>
            <a:r>
              <a:rPr lang="zh-CN" altLang="zh-CN" dirty="0">
                <a:latin typeface="宋体" panose="02010600030101010101" pitchFamily="2" charset="-122"/>
                <a:ea typeface="宋体" panose="02010600030101010101" pitchFamily="2" charset="-122"/>
              </a:rPr>
              <a:t>睡眠占比”、“平均睡眠质量评分”更高，“平均夜间觉醒次数”和“平均睡眠时长”更少，而“平均入睡潜伏期”和“平均深度睡眠占比”相差不多。</a:t>
            </a:r>
          </a:p>
        </p:txBody>
      </p:sp>
    </p:spTree>
    <p:extLst>
      <p:ext uri="{BB962C8B-B14F-4D97-AF65-F5344CB8AC3E}">
        <p14:creationId xmlns:p14="http://schemas.microsoft.com/office/powerpoint/2010/main" val="30409699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27</a:t>
            </a:fld>
            <a:endParaRPr lang="zh-CN" altLang="en-US" noProof="0"/>
          </a:p>
        </p:txBody>
      </p:sp>
      <p:sp>
        <p:nvSpPr>
          <p:cNvPr id="4" name="文本框 3">
            <a:extLst>
              <a:ext uri="{FF2B5EF4-FFF2-40B4-BE49-F238E27FC236}">
                <a16:creationId xmlns:a16="http://schemas.microsoft.com/office/drawing/2014/main" id="{48195CCB-A834-4DC4-BE5B-A75D417910D7}"/>
              </a:ext>
            </a:extLst>
          </p:cNvPr>
          <p:cNvSpPr txBox="1"/>
          <p:nvPr/>
        </p:nvSpPr>
        <p:spPr>
          <a:xfrm>
            <a:off x="624117" y="445019"/>
            <a:ext cx="1879597"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模型预测</a:t>
            </a:r>
          </a:p>
        </p:txBody>
      </p:sp>
      <p:pic>
        <p:nvPicPr>
          <p:cNvPr id="5" name="图片 4">
            <a:extLst>
              <a:ext uri="{FF2B5EF4-FFF2-40B4-BE49-F238E27FC236}">
                <a16:creationId xmlns:a16="http://schemas.microsoft.com/office/drawing/2014/main" id="{93A4153C-3278-471E-B844-B2E5FA54C304}"/>
              </a:ext>
            </a:extLst>
          </p:cNvPr>
          <p:cNvPicPr/>
          <p:nvPr/>
        </p:nvPicPr>
        <p:blipFill>
          <a:blip r:embed="rId3"/>
          <a:stretch>
            <a:fillRect/>
          </a:stretch>
        </p:blipFill>
        <p:spPr>
          <a:xfrm>
            <a:off x="1839945" y="1240408"/>
            <a:ext cx="8547970" cy="3991629"/>
          </a:xfrm>
          <a:prstGeom prst="rect">
            <a:avLst/>
          </a:prstGeom>
        </p:spPr>
      </p:pic>
      <p:sp>
        <p:nvSpPr>
          <p:cNvPr id="7" name="文本框 6">
            <a:extLst>
              <a:ext uri="{FF2B5EF4-FFF2-40B4-BE49-F238E27FC236}">
                <a16:creationId xmlns:a16="http://schemas.microsoft.com/office/drawing/2014/main" id="{2C56FDA5-D345-4F39-A1F9-A239D2A67B51}"/>
              </a:ext>
            </a:extLst>
          </p:cNvPr>
          <p:cNvSpPr txBox="1"/>
          <p:nvPr/>
        </p:nvSpPr>
        <p:spPr>
          <a:xfrm>
            <a:off x="3955329" y="5770834"/>
            <a:ext cx="4317201"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模型预测界面：点击下拉框选定一个模型</a:t>
            </a:r>
          </a:p>
        </p:txBody>
      </p:sp>
    </p:spTree>
    <p:extLst>
      <p:ext uri="{BB962C8B-B14F-4D97-AF65-F5344CB8AC3E}">
        <p14:creationId xmlns:p14="http://schemas.microsoft.com/office/powerpoint/2010/main" val="21996157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28</a:t>
            </a:fld>
            <a:endParaRPr lang="zh-CN" altLang="en-US" noProof="0"/>
          </a:p>
        </p:txBody>
      </p:sp>
      <p:sp>
        <p:nvSpPr>
          <p:cNvPr id="4" name="文本框 3">
            <a:extLst>
              <a:ext uri="{FF2B5EF4-FFF2-40B4-BE49-F238E27FC236}">
                <a16:creationId xmlns:a16="http://schemas.microsoft.com/office/drawing/2014/main" id="{48195CCB-A834-4DC4-BE5B-A75D417910D7}"/>
              </a:ext>
            </a:extLst>
          </p:cNvPr>
          <p:cNvSpPr txBox="1"/>
          <p:nvPr/>
        </p:nvSpPr>
        <p:spPr>
          <a:xfrm>
            <a:off x="624117" y="445019"/>
            <a:ext cx="1879597"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模型预测</a:t>
            </a:r>
          </a:p>
        </p:txBody>
      </p:sp>
      <p:sp>
        <p:nvSpPr>
          <p:cNvPr id="2" name="文本框 1">
            <a:extLst>
              <a:ext uri="{FF2B5EF4-FFF2-40B4-BE49-F238E27FC236}">
                <a16:creationId xmlns:a16="http://schemas.microsoft.com/office/drawing/2014/main" id="{BF57E3AF-2B04-4C9A-9F0D-6B4796E4D5D7}"/>
              </a:ext>
            </a:extLst>
          </p:cNvPr>
          <p:cNvSpPr txBox="1"/>
          <p:nvPr/>
        </p:nvSpPr>
        <p:spPr>
          <a:xfrm>
            <a:off x="2107304" y="5769190"/>
            <a:ext cx="7977391"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模型预测界面：填写每一个特征列的值，并点击“开始预测”后得到预测结果</a:t>
            </a:r>
          </a:p>
        </p:txBody>
      </p:sp>
      <p:pic>
        <p:nvPicPr>
          <p:cNvPr id="8" name="图片 7">
            <a:extLst>
              <a:ext uri="{FF2B5EF4-FFF2-40B4-BE49-F238E27FC236}">
                <a16:creationId xmlns:a16="http://schemas.microsoft.com/office/drawing/2014/main" id="{AFF03C77-60E0-4CE0-A49D-1A7B0779AE60}"/>
              </a:ext>
            </a:extLst>
          </p:cNvPr>
          <p:cNvPicPr/>
          <p:nvPr/>
        </p:nvPicPr>
        <p:blipFill>
          <a:blip r:embed="rId3"/>
          <a:stretch>
            <a:fillRect/>
          </a:stretch>
        </p:blipFill>
        <p:spPr>
          <a:xfrm>
            <a:off x="1839945" y="1240408"/>
            <a:ext cx="8547970" cy="4299728"/>
          </a:xfrm>
          <a:prstGeom prst="rect">
            <a:avLst/>
          </a:prstGeom>
        </p:spPr>
      </p:pic>
    </p:spTree>
    <p:extLst>
      <p:ext uri="{BB962C8B-B14F-4D97-AF65-F5344CB8AC3E}">
        <p14:creationId xmlns:p14="http://schemas.microsoft.com/office/powerpoint/2010/main" val="13001734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29</a:t>
            </a:fld>
            <a:endParaRPr lang="zh-CN" altLang="en-US" noProof="0"/>
          </a:p>
        </p:txBody>
      </p:sp>
      <p:sp>
        <p:nvSpPr>
          <p:cNvPr id="4" name="文本框 3">
            <a:extLst>
              <a:ext uri="{FF2B5EF4-FFF2-40B4-BE49-F238E27FC236}">
                <a16:creationId xmlns:a16="http://schemas.microsoft.com/office/drawing/2014/main" id="{48195CCB-A834-4DC4-BE5B-A75D417910D7}"/>
              </a:ext>
            </a:extLst>
          </p:cNvPr>
          <p:cNvSpPr txBox="1"/>
          <p:nvPr/>
        </p:nvSpPr>
        <p:spPr>
          <a:xfrm>
            <a:off x="624117" y="445019"/>
            <a:ext cx="1879597"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模型预测</a:t>
            </a:r>
          </a:p>
        </p:txBody>
      </p:sp>
      <p:sp>
        <p:nvSpPr>
          <p:cNvPr id="2" name="文本框 1">
            <a:extLst>
              <a:ext uri="{FF2B5EF4-FFF2-40B4-BE49-F238E27FC236}">
                <a16:creationId xmlns:a16="http://schemas.microsoft.com/office/drawing/2014/main" id="{BF57E3AF-2B04-4C9A-9F0D-6B4796E4D5D7}"/>
              </a:ext>
            </a:extLst>
          </p:cNvPr>
          <p:cNvSpPr txBox="1"/>
          <p:nvPr/>
        </p:nvSpPr>
        <p:spPr>
          <a:xfrm>
            <a:off x="1806922" y="5766650"/>
            <a:ext cx="8578156" cy="646331"/>
          </a:xfrm>
          <a:prstGeom prst="rect">
            <a:avLst/>
          </a:prstGeom>
          <a:noFill/>
        </p:spPr>
        <p:txBody>
          <a:bodyPr wrap="square" rtlCol="0">
            <a:spAutoFit/>
          </a:bodyPr>
          <a:lstStyle/>
          <a:p>
            <a:pPr algn="ctr"/>
            <a:r>
              <a:rPr lang="zh-CN" altLang="zh-CN" dirty="0">
                <a:latin typeface="宋体" panose="02010600030101010101" pitchFamily="2" charset="-122"/>
                <a:ea typeface="宋体" panose="02010600030101010101" pitchFamily="2" charset="-122"/>
              </a:rPr>
              <a:t>模型分析界面：模型选择下拉框与模型预测界面相同，右侧是“特征重要性”的可视化，其类型可通过“重要性类型”进行切换，左侧是“</a:t>
            </a:r>
            <a:r>
              <a:rPr lang="en-US" altLang="zh-CN" dirty="0">
                <a:latin typeface="宋体" panose="02010600030101010101" pitchFamily="2" charset="-122"/>
                <a:ea typeface="宋体" panose="02010600030101010101" pitchFamily="2" charset="-122"/>
              </a:rPr>
              <a:t>SHAP</a:t>
            </a:r>
            <a:r>
              <a:rPr lang="zh-CN" altLang="zh-CN" dirty="0">
                <a:latin typeface="宋体" panose="02010600030101010101" pitchFamily="2" charset="-122"/>
                <a:ea typeface="宋体" panose="02010600030101010101" pitchFamily="2" charset="-122"/>
              </a:rPr>
              <a:t>值”的可视化</a:t>
            </a:r>
          </a:p>
        </p:txBody>
      </p:sp>
      <p:pic>
        <p:nvPicPr>
          <p:cNvPr id="10" name="图片 9">
            <a:extLst>
              <a:ext uri="{FF2B5EF4-FFF2-40B4-BE49-F238E27FC236}">
                <a16:creationId xmlns:a16="http://schemas.microsoft.com/office/drawing/2014/main" id="{61F23347-D49C-490C-80CB-BBE49B02C0D8}"/>
              </a:ext>
            </a:extLst>
          </p:cNvPr>
          <p:cNvPicPr/>
          <p:nvPr/>
        </p:nvPicPr>
        <p:blipFill>
          <a:blip r:embed="rId3"/>
          <a:stretch>
            <a:fillRect/>
          </a:stretch>
        </p:blipFill>
        <p:spPr>
          <a:xfrm>
            <a:off x="2049822" y="1240010"/>
            <a:ext cx="8128213" cy="4300126"/>
          </a:xfrm>
          <a:prstGeom prst="rect">
            <a:avLst/>
          </a:prstGeom>
        </p:spPr>
      </p:pic>
    </p:spTree>
    <p:extLst>
      <p:ext uri="{BB962C8B-B14F-4D97-AF65-F5344CB8AC3E}">
        <p14:creationId xmlns:p14="http://schemas.microsoft.com/office/powerpoint/2010/main" val="14886323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30</a:t>
            </a:fld>
            <a:endParaRPr lang="zh-CN" altLang="en-US" noProof="0"/>
          </a:p>
        </p:txBody>
      </p:sp>
      <p:sp>
        <p:nvSpPr>
          <p:cNvPr id="4" name="文本框 3">
            <a:extLst>
              <a:ext uri="{FF2B5EF4-FFF2-40B4-BE49-F238E27FC236}">
                <a16:creationId xmlns:a16="http://schemas.microsoft.com/office/drawing/2014/main" id="{48195CCB-A834-4DC4-BE5B-A75D417910D7}"/>
              </a:ext>
            </a:extLst>
          </p:cNvPr>
          <p:cNvSpPr txBox="1"/>
          <p:nvPr/>
        </p:nvSpPr>
        <p:spPr>
          <a:xfrm>
            <a:off x="624117" y="445019"/>
            <a:ext cx="1879597"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模型预测</a:t>
            </a:r>
          </a:p>
        </p:txBody>
      </p:sp>
      <p:sp>
        <p:nvSpPr>
          <p:cNvPr id="2" name="文本框 1">
            <a:extLst>
              <a:ext uri="{FF2B5EF4-FFF2-40B4-BE49-F238E27FC236}">
                <a16:creationId xmlns:a16="http://schemas.microsoft.com/office/drawing/2014/main" id="{BF57E3AF-2B04-4C9A-9F0D-6B4796E4D5D7}"/>
              </a:ext>
            </a:extLst>
          </p:cNvPr>
          <p:cNvSpPr txBox="1"/>
          <p:nvPr/>
        </p:nvSpPr>
        <p:spPr>
          <a:xfrm>
            <a:off x="1625332" y="5767663"/>
            <a:ext cx="8977192" cy="369332"/>
          </a:xfrm>
          <a:prstGeom prst="rect">
            <a:avLst/>
          </a:prstGeom>
          <a:noFill/>
        </p:spPr>
        <p:txBody>
          <a:bodyPr wrap="square" rtlCol="0">
            <a:spAutoFit/>
          </a:bodyPr>
          <a:lstStyle/>
          <a:p>
            <a:pPr algn="ctr"/>
            <a:r>
              <a:rPr lang="zh-CN" altLang="zh-CN" dirty="0">
                <a:latin typeface="宋体" panose="02010600030101010101" pitchFamily="2" charset="-122"/>
                <a:ea typeface="宋体" panose="02010600030101010101" pitchFamily="2" charset="-122"/>
              </a:rPr>
              <a:t>模型分析界面：如果当前界面是分类界面，还可以查看不同“类别”的“</a:t>
            </a:r>
            <a:r>
              <a:rPr lang="en-US" altLang="zh-CN" dirty="0">
                <a:latin typeface="宋体" panose="02010600030101010101" pitchFamily="2" charset="-122"/>
                <a:ea typeface="宋体" panose="02010600030101010101" pitchFamily="2" charset="-122"/>
              </a:rPr>
              <a:t>SHAP</a:t>
            </a:r>
            <a:r>
              <a:rPr lang="zh-CN" altLang="zh-CN" dirty="0">
                <a:latin typeface="宋体" panose="02010600030101010101" pitchFamily="2" charset="-122"/>
                <a:ea typeface="宋体" panose="02010600030101010101" pitchFamily="2" charset="-122"/>
              </a:rPr>
              <a:t>值”变化</a:t>
            </a:r>
          </a:p>
        </p:txBody>
      </p:sp>
      <p:pic>
        <p:nvPicPr>
          <p:cNvPr id="8" name="图片 7">
            <a:extLst>
              <a:ext uri="{FF2B5EF4-FFF2-40B4-BE49-F238E27FC236}">
                <a16:creationId xmlns:a16="http://schemas.microsoft.com/office/drawing/2014/main" id="{FD2F78B5-5112-41A1-AF97-4DE7634EE7F8}"/>
              </a:ext>
            </a:extLst>
          </p:cNvPr>
          <p:cNvPicPr/>
          <p:nvPr/>
        </p:nvPicPr>
        <p:blipFill>
          <a:blip r:embed="rId3"/>
          <a:stretch>
            <a:fillRect/>
          </a:stretch>
        </p:blipFill>
        <p:spPr>
          <a:xfrm>
            <a:off x="2049822" y="1240010"/>
            <a:ext cx="8128213" cy="4308299"/>
          </a:xfrm>
          <a:prstGeom prst="rect">
            <a:avLst/>
          </a:prstGeom>
        </p:spPr>
      </p:pic>
    </p:spTree>
    <p:extLst>
      <p:ext uri="{BB962C8B-B14F-4D97-AF65-F5344CB8AC3E}">
        <p14:creationId xmlns:p14="http://schemas.microsoft.com/office/powerpoint/2010/main" val="11959368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31</a:t>
            </a:fld>
            <a:endParaRPr lang="zh-CN" altLang="en-US" noProof="0"/>
          </a:p>
        </p:txBody>
      </p:sp>
      <p:sp>
        <p:nvSpPr>
          <p:cNvPr id="4" name="文本框 3">
            <a:extLst>
              <a:ext uri="{FF2B5EF4-FFF2-40B4-BE49-F238E27FC236}">
                <a16:creationId xmlns:a16="http://schemas.microsoft.com/office/drawing/2014/main" id="{48195CCB-A834-4DC4-BE5B-A75D417910D7}"/>
              </a:ext>
            </a:extLst>
          </p:cNvPr>
          <p:cNvSpPr txBox="1"/>
          <p:nvPr/>
        </p:nvSpPr>
        <p:spPr>
          <a:xfrm>
            <a:off x="624117" y="445019"/>
            <a:ext cx="1879597"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模型预测</a:t>
            </a:r>
          </a:p>
        </p:txBody>
      </p:sp>
      <p:sp>
        <p:nvSpPr>
          <p:cNvPr id="2" name="文本框 1">
            <a:extLst>
              <a:ext uri="{FF2B5EF4-FFF2-40B4-BE49-F238E27FC236}">
                <a16:creationId xmlns:a16="http://schemas.microsoft.com/office/drawing/2014/main" id="{BF57E3AF-2B04-4C9A-9F0D-6B4796E4D5D7}"/>
              </a:ext>
            </a:extLst>
          </p:cNvPr>
          <p:cNvSpPr txBox="1"/>
          <p:nvPr/>
        </p:nvSpPr>
        <p:spPr>
          <a:xfrm>
            <a:off x="1523865" y="5761650"/>
            <a:ext cx="9144269" cy="369332"/>
          </a:xfrm>
          <a:prstGeom prst="rect">
            <a:avLst/>
          </a:prstGeom>
          <a:noFill/>
        </p:spPr>
        <p:txBody>
          <a:bodyPr wrap="square" rtlCol="0">
            <a:spAutoFit/>
          </a:bodyPr>
          <a:lstStyle/>
          <a:p>
            <a:pPr algn="ctr"/>
            <a:r>
              <a:rPr lang="zh-CN" altLang="zh-CN" dirty="0">
                <a:latin typeface="宋体" panose="02010600030101010101" pitchFamily="2" charset="-122"/>
                <a:ea typeface="宋体" panose="02010600030101010101" pitchFamily="2" charset="-122"/>
              </a:rPr>
              <a:t>模型分析界面：在点击“</a:t>
            </a:r>
            <a:r>
              <a:rPr lang="en-US" altLang="zh-CN" dirty="0">
                <a:latin typeface="宋体" panose="02010600030101010101" pitchFamily="2" charset="-122"/>
                <a:ea typeface="宋体" panose="02010600030101010101" pitchFamily="2" charset="-122"/>
              </a:rPr>
              <a:t>SHAP</a:t>
            </a:r>
            <a:r>
              <a:rPr lang="zh-CN" altLang="zh-CN" dirty="0">
                <a:latin typeface="宋体" panose="02010600030101010101" pitchFamily="2" charset="-122"/>
                <a:ea typeface="宋体" panose="02010600030101010101" pitchFamily="2" charset="-122"/>
              </a:rPr>
              <a:t>”图表中的绿条后，可以在下方看到对应的“</a:t>
            </a:r>
            <a:r>
              <a:rPr lang="en-US" altLang="zh-CN" dirty="0">
                <a:latin typeface="宋体" panose="02010600030101010101" pitchFamily="2" charset="-122"/>
                <a:ea typeface="宋体" panose="02010600030101010101" pitchFamily="2" charset="-122"/>
              </a:rPr>
              <a:t>SHAP</a:t>
            </a:r>
            <a:r>
              <a:rPr lang="zh-CN" altLang="zh-CN" dirty="0">
                <a:latin typeface="宋体" panose="02010600030101010101" pitchFamily="2" charset="-122"/>
                <a:ea typeface="宋体" panose="02010600030101010101" pitchFamily="2" charset="-122"/>
              </a:rPr>
              <a:t>依赖图”</a:t>
            </a:r>
          </a:p>
        </p:txBody>
      </p:sp>
      <p:pic>
        <p:nvPicPr>
          <p:cNvPr id="10" name="图片 9">
            <a:extLst>
              <a:ext uri="{FF2B5EF4-FFF2-40B4-BE49-F238E27FC236}">
                <a16:creationId xmlns:a16="http://schemas.microsoft.com/office/drawing/2014/main" id="{B6FEBD8C-75DA-439C-9858-4B2D9447171A}"/>
              </a:ext>
            </a:extLst>
          </p:cNvPr>
          <p:cNvPicPr/>
          <p:nvPr/>
        </p:nvPicPr>
        <p:blipFill>
          <a:blip r:embed="rId3"/>
          <a:stretch>
            <a:fillRect/>
          </a:stretch>
        </p:blipFill>
        <p:spPr>
          <a:xfrm>
            <a:off x="2049821" y="1240010"/>
            <a:ext cx="8128213" cy="4296273"/>
          </a:xfrm>
          <a:prstGeom prst="rect">
            <a:avLst/>
          </a:prstGeom>
        </p:spPr>
      </p:pic>
    </p:spTree>
    <p:extLst>
      <p:ext uri="{BB962C8B-B14F-4D97-AF65-F5344CB8AC3E}">
        <p14:creationId xmlns:p14="http://schemas.microsoft.com/office/powerpoint/2010/main" val="19191761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32</a:t>
            </a:fld>
            <a:endParaRPr lang="zh-CN" altLang="en-US" noProof="0"/>
          </a:p>
        </p:txBody>
      </p:sp>
      <p:sp>
        <p:nvSpPr>
          <p:cNvPr id="2" name="文本框 1">
            <a:extLst>
              <a:ext uri="{FF2B5EF4-FFF2-40B4-BE49-F238E27FC236}">
                <a16:creationId xmlns:a16="http://schemas.microsoft.com/office/drawing/2014/main" id="{51A43478-BE5E-4C6A-933A-864FD6707052}"/>
              </a:ext>
            </a:extLst>
          </p:cNvPr>
          <p:cNvSpPr txBox="1"/>
          <p:nvPr/>
        </p:nvSpPr>
        <p:spPr>
          <a:xfrm>
            <a:off x="3751943" y="2644170"/>
            <a:ext cx="4688114" cy="1569660"/>
          </a:xfrm>
          <a:prstGeom prst="rect">
            <a:avLst/>
          </a:prstGeom>
          <a:noFill/>
        </p:spPr>
        <p:txBody>
          <a:bodyPr wrap="square" rtlCol="0">
            <a:spAutoFit/>
          </a:bodyPr>
          <a:lstStyle/>
          <a:p>
            <a:r>
              <a:rPr lang="zh-CN" altLang="en-US" sz="9600" dirty="0">
                <a:latin typeface="宋体" panose="02010600030101010101" pitchFamily="2" charset="-122"/>
                <a:ea typeface="宋体" panose="02010600030101010101" pitchFamily="2" charset="-122"/>
                <a:hlinkClick r:id="rId3"/>
              </a:rPr>
              <a:t>请看</a:t>
            </a:r>
            <a:r>
              <a:rPr lang="en-US" altLang="zh-CN" sz="9600" dirty="0">
                <a:latin typeface="宋体" panose="02010600030101010101" pitchFamily="2" charset="-122"/>
                <a:ea typeface="宋体" panose="02010600030101010101" pitchFamily="2" charset="-122"/>
                <a:hlinkClick r:id="rId3"/>
              </a:rPr>
              <a:t>VCR</a:t>
            </a:r>
            <a:endParaRPr lang="zh-CN" altLang="en-US" sz="9600" dirty="0">
              <a:latin typeface="宋体" panose="02010600030101010101" pitchFamily="2" charset="-122"/>
              <a:ea typeface="宋体" panose="02010600030101010101" pitchFamily="2" charset="-122"/>
            </a:endParaRPr>
          </a:p>
        </p:txBody>
      </p:sp>
      <p:sp>
        <p:nvSpPr>
          <p:cNvPr id="4" name="文本框 3">
            <a:extLst>
              <a:ext uri="{FF2B5EF4-FFF2-40B4-BE49-F238E27FC236}">
                <a16:creationId xmlns:a16="http://schemas.microsoft.com/office/drawing/2014/main" id="{A8175EE8-013B-46FA-821E-CD681EA50AC4}"/>
              </a:ext>
            </a:extLst>
          </p:cNvPr>
          <p:cNvSpPr txBox="1"/>
          <p:nvPr/>
        </p:nvSpPr>
        <p:spPr>
          <a:xfrm>
            <a:off x="624117" y="445019"/>
            <a:ext cx="1458683" cy="584775"/>
          </a:xfrm>
          <a:prstGeom prst="rect">
            <a:avLst/>
          </a:prstGeom>
          <a:noFill/>
        </p:spPr>
        <p:txBody>
          <a:bodyPr wrap="square" rtlCol="0">
            <a:spAutoFit/>
          </a:bodyPr>
          <a:lstStyle/>
          <a:p>
            <a:r>
              <a:rPr lang="zh-CN" altLang="en-US" sz="3200" dirty="0">
                <a:latin typeface="宋体" panose="02010600030101010101" pitchFamily="2" charset="-122"/>
                <a:ea typeface="宋体" panose="02010600030101010101" pitchFamily="2" charset="-122"/>
              </a:rPr>
              <a:t>演示：</a:t>
            </a:r>
          </a:p>
        </p:txBody>
      </p:sp>
    </p:spTree>
    <p:extLst>
      <p:ext uri="{BB962C8B-B14F-4D97-AF65-F5344CB8AC3E}">
        <p14:creationId xmlns:p14="http://schemas.microsoft.com/office/powerpoint/2010/main" val="10653773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A5E8F41F-FFEF-48E8-98A6-776F1FDF5585}"/>
              </a:ext>
            </a:extLst>
          </p:cNvPr>
          <p:cNvSpPr>
            <a:spLocks noGrp="1"/>
          </p:cNvSpPr>
          <p:nvPr>
            <p:ph type="ctrTitle"/>
          </p:nvPr>
        </p:nvSpPr>
        <p:spPr>
          <a:xfrm>
            <a:off x="8011969" y="2965645"/>
            <a:ext cx="2343974" cy="926709"/>
          </a:xfrm>
        </p:spPr>
        <p:txBody>
          <a:bodyPr/>
          <a:lstStyle/>
          <a:p>
            <a:r>
              <a:rPr lang="en-US" altLang="zh-CN" sz="4000" b="1" dirty="0" err="1">
                <a:latin typeface="High Tower Text" panose="02040502050506030303" pitchFamily="18" charset="0"/>
              </a:rPr>
              <a:t>Xgb</a:t>
            </a:r>
            <a:r>
              <a:rPr lang="en-US" altLang="zh-CN" sz="4000" b="1" cap="none" dirty="0" err="1">
                <a:latin typeface="High Tower Text" panose="02040502050506030303" pitchFamily="18" charset="0"/>
              </a:rPr>
              <a:t>oost</a:t>
            </a:r>
            <a:endParaRPr lang="zh-CN" altLang="en-US" sz="4000" b="1" dirty="0">
              <a:latin typeface="High Tower Text" panose="02040502050506030303" pitchFamily="18" charset="0"/>
            </a:endParaRPr>
          </a:p>
        </p:txBody>
      </p:sp>
    </p:spTree>
    <p:extLst>
      <p:ext uri="{BB962C8B-B14F-4D97-AF65-F5344CB8AC3E}">
        <p14:creationId xmlns:p14="http://schemas.microsoft.com/office/powerpoint/2010/main" val="796428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34</a:t>
            </a:fld>
            <a:endParaRPr lang="zh-CN" altLang="en-US" noProof="0"/>
          </a:p>
        </p:txBody>
      </p:sp>
      <p:pic>
        <p:nvPicPr>
          <p:cNvPr id="3" name="图片 2">
            <a:extLst>
              <a:ext uri="{FF2B5EF4-FFF2-40B4-BE49-F238E27FC236}">
                <a16:creationId xmlns:a16="http://schemas.microsoft.com/office/drawing/2014/main" id="{5207E006-80AD-4817-BA40-E9EE6EF4A0C7}"/>
              </a:ext>
            </a:extLst>
          </p:cNvPr>
          <p:cNvPicPr>
            <a:picLocks noChangeAspect="1"/>
          </p:cNvPicPr>
          <p:nvPr/>
        </p:nvPicPr>
        <p:blipFill>
          <a:blip r:embed="rId3"/>
          <a:stretch>
            <a:fillRect/>
          </a:stretch>
        </p:blipFill>
        <p:spPr>
          <a:xfrm>
            <a:off x="6360887" y="1368553"/>
            <a:ext cx="5366739" cy="2673673"/>
          </a:xfrm>
          <a:prstGeom prst="rect">
            <a:avLst/>
          </a:prstGeom>
        </p:spPr>
      </p:pic>
      <p:pic>
        <p:nvPicPr>
          <p:cNvPr id="5" name="图片 4">
            <a:extLst>
              <a:ext uri="{FF2B5EF4-FFF2-40B4-BE49-F238E27FC236}">
                <a16:creationId xmlns:a16="http://schemas.microsoft.com/office/drawing/2014/main" id="{B1CF198E-AE7B-4BCA-84AF-151A50CCA10F}"/>
              </a:ext>
            </a:extLst>
          </p:cNvPr>
          <p:cNvPicPr>
            <a:picLocks noChangeAspect="1"/>
          </p:cNvPicPr>
          <p:nvPr/>
        </p:nvPicPr>
        <p:blipFill>
          <a:blip r:embed="rId4"/>
          <a:stretch>
            <a:fillRect/>
          </a:stretch>
        </p:blipFill>
        <p:spPr>
          <a:xfrm>
            <a:off x="364776" y="811276"/>
            <a:ext cx="5731224" cy="3788229"/>
          </a:xfrm>
          <a:prstGeom prst="rect">
            <a:avLst/>
          </a:prstGeom>
        </p:spPr>
      </p:pic>
      <p:sp>
        <p:nvSpPr>
          <p:cNvPr id="7" name="文本框 6">
            <a:extLst>
              <a:ext uri="{FF2B5EF4-FFF2-40B4-BE49-F238E27FC236}">
                <a16:creationId xmlns:a16="http://schemas.microsoft.com/office/drawing/2014/main" id="{76129AF6-C26C-4DAD-A957-ACF2ED8EA53B}"/>
              </a:ext>
            </a:extLst>
          </p:cNvPr>
          <p:cNvSpPr txBox="1"/>
          <p:nvPr/>
        </p:nvSpPr>
        <p:spPr>
          <a:xfrm>
            <a:off x="6828590" y="4230173"/>
            <a:ext cx="4431331"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只需要改</a:t>
            </a:r>
            <a:r>
              <a:rPr lang="en-US" altLang="zh-CN" dirty="0" err="1">
                <a:latin typeface="宋体" panose="02010600030101010101" pitchFamily="2" charset="-122"/>
                <a:ea typeface="宋体" panose="02010600030101010101" pitchFamily="2" charset="-122"/>
              </a:rPr>
              <a:t>target_name</a:t>
            </a:r>
            <a:r>
              <a:rPr lang="zh-CN" altLang="en-US" dirty="0">
                <a:latin typeface="宋体" panose="02010600030101010101" pitchFamily="2" charset="-122"/>
                <a:ea typeface="宋体" panose="02010600030101010101" pitchFamily="2" charset="-122"/>
              </a:rPr>
              <a:t>就可以改变训练的列</a:t>
            </a:r>
          </a:p>
        </p:txBody>
      </p:sp>
      <p:sp>
        <p:nvSpPr>
          <p:cNvPr id="8" name="文本框 7">
            <a:extLst>
              <a:ext uri="{FF2B5EF4-FFF2-40B4-BE49-F238E27FC236}">
                <a16:creationId xmlns:a16="http://schemas.microsoft.com/office/drawing/2014/main" id="{2063A9DF-014B-4872-A5C2-EE2A4F5CA801}"/>
              </a:ext>
            </a:extLst>
          </p:cNvPr>
          <p:cNvSpPr txBox="1"/>
          <p:nvPr/>
        </p:nvSpPr>
        <p:spPr>
          <a:xfrm>
            <a:off x="501486" y="4833257"/>
            <a:ext cx="5457804" cy="646331"/>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可以在</a:t>
            </a:r>
            <a:r>
              <a:rPr lang="en-US" altLang="zh-CN" dirty="0">
                <a:latin typeface="宋体" panose="02010600030101010101" pitchFamily="2" charset="-122"/>
                <a:ea typeface="宋体" panose="02010600030101010101" pitchFamily="2" charset="-122"/>
              </a:rPr>
              <a:t>config</a:t>
            </a:r>
            <a:r>
              <a:rPr lang="zh-CN" altLang="en-US" dirty="0">
                <a:latin typeface="宋体" panose="02010600030101010101" pitchFamily="2" charset="-122"/>
                <a:ea typeface="宋体" panose="02010600030101010101" pitchFamily="2" charset="-122"/>
              </a:rPr>
              <a:t>中添加新的目标列，只需指定训练任务（分类</a:t>
            </a:r>
            <a:r>
              <a:rPr lang="en-US" altLang="zh-CN" dirty="0">
                <a:latin typeface="宋体" panose="02010600030101010101" pitchFamily="2" charset="-122"/>
                <a:ea typeface="宋体" panose="02010600030101010101" pitchFamily="2" charset="-122"/>
              </a:rPr>
              <a:t>or</a:t>
            </a:r>
            <a:r>
              <a:rPr lang="zh-CN" altLang="en-US" dirty="0">
                <a:latin typeface="宋体" panose="02010600030101010101" pitchFamily="2" charset="-122"/>
                <a:ea typeface="宋体" panose="02010600030101010101" pitchFamily="2" charset="-122"/>
              </a:rPr>
              <a:t>回归），并可以指定哪些列不作为特征列</a:t>
            </a:r>
          </a:p>
        </p:txBody>
      </p:sp>
    </p:spTree>
    <p:extLst>
      <p:ext uri="{BB962C8B-B14F-4D97-AF65-F5344CB8AC3E}">
        <p14:creationId xmlns:p14="http://schemas.microsoft.com/office/powerpoint/2010/main" val="1661624840"/>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35</a:t>
            </a:fld>
            <a:endParaRPr lang="zh-CN" altLang="en-US" noProof="0"/>
          </a:p>
        </p:txBody>
      </p:sp>
      <p:sp>
        <p:nvSpPr>
          <p:cNvPr id="11" name="文本框 10">
            <a:extLst>
              <a:ext uri="{FF2B5EF4-FFF2-40B4-BE49-F238E27FC236}">
                <a16:creationId xmlns:a16="http://schemas.microsoft.com/office/drawing/2014/main" id="{7A2B6993-0671-4DA3-8C30-4EC735382382}"/>
              </a:ext>
            </a:extLst>
          </p:cNvPr>
          <p:cNvSpPr txBox="1"/>
          <p:nvPr/>
        </p:nvSpPr>
        <p:spPr>
          <a:xfrm>
            <a:off x="7970629" y="1465855"/>
            <a:ext cx="3383171" cy="646331"/>
          </a:xfrm>
          <a:prstGeom prst="rect">
            <a:avLst/>
          </a:prstGeom>
          <a:noFill/>
        </p:spPr>
        <p:txBody>
          <a:bodyPr wrap="square" rtlCol="0">
            <a:spAutoFit/>
          </a:bodyPr>
          <a:lstStyle/>
          <a:p>
            <a:pPr algn="ctr"/>
            <a:r>
              <a:rPr lang="en-US" altLang="zh-CN" dirty="0" err="1">
                <a:latin typeface="宋体" panose="02010600030101010101" pitchFamily="2" charset="-122"/>
                <a:ea typeface="宋体" panose="02010600030101010101" pitchFamily="2" charset="-122"/>
              </a:rPr>
              <a:t>cognitive_performance_score</a:t>
            </a:r>
            <a:endParaRPr lang="en-US" altLang="zh-CN" dirty="0">
              <a:latin typeface="宋体" panose="02010600030101010101" pitchFamily="2" charset="-122"/>
              <a:ea typeface="宋体" panose="02010600030101010101" pitchFamily="2" charset="-122"/>
            </a:endParaRPr>
          </a:p>
          <a:p>
            <a:pPr algn="ctr"/>
            <a:r>
              <a:rPr lang="en-US" altLang="zh-CN" dirty="0">
                <a:latin typeface="宋体" panose="02010600030101010101" pitchFamily="2" charset="-122"/>
                <a:ea typeface="宋体" panose="02010600030101010101" pitchFamily="2" charset="-122"/>
              </a:rPr>
              <a:t>Regression</a:t>
            </a:r>
            <a:endParaRPr lang="zh-CN" altLang="en-US" dirty="0">
              <a:latin typeface="宋体" panose="02010600030101010101" pitchFamily="2" charset="-122"/>
              <a:ea typeface="宋体" panose="02010600030101010101" pitchFamily="2" charset="-122"/>
            </a:endParaRPr>
          </a:p>
        </p:txBody>
      </p:sp>
      <p:sp>
        <p:nvSpPr>
          <p:cNvPr id="15" name="文本框 14">
            <a:extLst>
              <a:ext uri="{FF2B5EF4-FFF2-40B4-BE49-F238E27FC236}">
                <a16:creationId xmlns:a16="http://schemas.microsoft.com/office/drawing/2014/main" id="{18C8DFE5-BF33-466F-8CFE-D5CF6D32BA7B}"/>
              </a:ext>
            </a:extLst>
          </p:cNvPr>
          <p:cNvSpPr txBox="1"/>
          <p:nvPr/>
        </p:nvSpPr>
        <p:spPr>
          <a:xfrm>
            <a:off x="8414943" y="4806859"/>
            <a:ext cx="2494542" cy="646331"/>
          </a:xfrm>
          <a:prstGeom prst="rect">
            <a:avLst/>
          </a:prstGeom>
          <a:noFill/>
        </p:spPr>
        <p:txBody>
          <a:bodyPr wrap="square">
            <a:spAutoFit/>
          </a:bodyPr>
          <a:lstStyle/>
          <a:p>
            <a:pPr algn="ctr"/>
            <a:r>
              <a:rPr lang="en-US" altLang="zh-CN" dirty="0" err="1">
                <a:latin typeface="宋体" panose="02010600030101010101" pitchFamily="2" charset="-122"/>
                <a:ea typeface="宋体" panose="02010600030101010101" pitchFamily="2" charset="-122"/>
              </a:rPr>
              <a:t>sleep_disorder_risk</a:t>
            </a:r>
            <a:endParaRPr lang="en-US" altLang="zh-CN" dirty="0">
              <a:latin typeface="宋体" panose="02010600030101010101" pitchFamily="2" charset="-122"/>
              <a:ea typeface="宋体" panose="02010600030101010101" pitchFamily="2" charset="-122"/>
            </a:endParaRPr>
          </a:p>
          <a:p>
            <a:pPr algn="ctr"/>
            <a:r>
              <a:rPr lang="en-US" altLang="zh-CN" dirty="0">
                <a:latin typeface="宋体" panose="02010600030101010101" pitchFamily="2" charset="-122"/>
                <a:ea typeface="宋体" panose="02010600030101010101" pitchFamily="2" charset="-122"/>
              </a:rPr>
              <a:t>Regression</a:t>
            </a:r>
            <a:endParaRPr lang="zh-CN" altLang="en-US" dirty="0">
              <a:latin typeface="宋体" panose="02010600030101010101" pitchFamily="2" charset="-122"/>
              <a:ea typeface="宋体" panose="02010600030101010101" pitchFamily="2" charset="-122"/>
            </a:endParaRPr>
          </a:p>
        </p:txBody>
      </p:sp>
      <p:pic>
        <p:nvPicPr>
          <p:cNvPr id="9" name="图片 8">
            <a:extLst>
              <a:ext uri="{FF2B5EF4-FFF2-40B4-BE49-F238E27FC236}">
                <a16:creationId xmlns:a16="http://schemas.microsoft.com/office/drawing/2014/main" id="{EB002772-3636-41B2-837B-AC5B47CDBA3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5389" y="384901"/>
            <a:ext cx="6347144" cy="2424142"/>
          </a:xfrm>
          <a:prstGeom prst="rect">
            <a:avLst/>
          </a:prstGeom>
          <a:noFill/>
          <a:ln>
            <a:noFill/>
          </a:ln>
        </p:spPr>
      </p:pic>
      <p:pic>
        <p:nvPicPr>
          <p:cNvPr id="12" name="图片 11">
            <a:extLst>
              <a:ext uri="{FF2B5EF4-FFF2-40B4-BE49-F238E27FC236}">
                <a16:creationId xmlns:a16="http://schemas.microsoft.com/office/drawing/2014/main" id="{9FFA1D8D-E5A3-4E78-A267-9E9588C81C6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44538" y="3140619"/>
            <a:ext cx="4708846" cy="3332480"/>
          </a:xfrm>
          <a:prstGeom prst="rect">
            <a:avLst/>
          </a:prstGeom>
          <a:noFill/>
          <a:ln>
            <a:noFill/>
          </a:ln>
        </p:spPr>
      </p:pic>
    </p:spTree>
    <p:extLst>
      <p:ext uri="{BB962C8B-B14F-4D97-AF65-F5344CB8AC3E}">
        <p14:creationId xmlns:p14="http://schemas.microsoft.com/office/powerpoint/2010/main" val="439451865"/>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36</a:t>
            </a:fld>
            <a:endParaRPr lang="zh-CN" altLang="en-US" noProof="0"/>
          </a:p>
        </p:txBody>
      </p:sp>
      <p:sp>
        <p:nvSpPr>
          <p:cNvPr id="12" name="文本框 11">
            <a:extLst>
              <a:ext uri="{FF2B5EF4-FFF2-40B4-BE49-F238E27FC236}">
                <a16:creationId xmlns:a16="http://schemas.microsoft.com/office/drawing/2014/main" id="{B12154E4-4656-44E4-9E0A-E9325599FA82}"/>
              </a:ext>
            </a:extLst>
          </p:cNvPr>
          <p:cNvSpPr txBox="1"/>
          <p:nvPr/>
        </p:nvSpPr>
        <p:spPr>
          <a:xfrm>
            <a:off x="7837737" y="1483955"/>
            <a:ext cx="2272673" cy="646331"/>
          </a:xfrm>
          <a:prstGeom prst="rect">
            <a:avLst/>
          </a:prstGeom>
          <a:noFill/>
        </p:spPr>
        <p:txBody>
          <a:bodyPr wrap="square">
            <a:spAutoFit/>
          </a:bodyPr>
          <a:lstStyle/>
          <a:p>
            <a:pPr algn="ctr"/>
            <a:r>
              <a:rPr lang="en-US" altLang="zh-CN" dirty="0" err="1">
                <a:latin typeface="宋体" panose="02010600030101010101" pitchFamily="2" charset="-122"/>
                <a:ea typeface="宋体" panose="02010600030101010101" pitchFamily="2" charset="-122"/>
              </a:rPr>
              <a:t>sleep_duration_hrs</a:t>
            </a:r>
            <a:endParaRPr lang="en-US" altLang="zh-CN" dirty="0">
              <a:latin typeface="宋体" panose="02010600030101010101" pitchFamily="2" charset="-122"/>
              <a:ea typeface="宋体" panose="02010600030101010101" pitchFamily="2" charset="-122"/>
            </a:endParaRPr>
          </a:p>
          <a:p>
            <a:pPr algn="ctr"/>
            <a:r>
              <a:rPr lang="en-US" altLang="zh-CN" dirty="0">
                <a:latin typeface="宋体" panose="02010600030101010101" pitchFamily="2" charset="-122"/>
                <a:ea typeface="宋体" panose="02010600030101010101" pitchFamily="2" charset="-122"/>
              </a:rPr>
              <a:t>Regression</a:t>
            </a:r>
            <a:endParaRPr lang="zh-CN" altLang="en-US" dirty="0">
              <a:latin typeface="宋体" panose="02010600030101010101" pitchFamily="2" charset="-122"/>
              <a:ea typeface="宋体" panose="02010600030101010101" pitchFamily="2" charset="-122"/>
            </a:endParaRPr>
          </a:p>
        </p:txBody>
      </p:sp>
      <p:sp>
        <p:nvSpPr>
          <p:cNvPr id="8" name="文本框 7">
            <a:extLst>
              <a:ext uri="{FF2B5EF4-FFF2-40B4-BE49-F238E27FC236}">
                <a16:creationId xmlns:a16="http://schemas.microsoft.com/office/drawing/2014/main" id="{A4E3CF24-66AC-4CC2-BB78-AC48C3BD0B11}"/>
              </a:ext>
            </a:extLst>
          </p:cNvPr>
          <p:cNvSpPr txBox="1"/>
          <p:nvPr/>
        </p:nvSpPr>
        <p:spPr>
          <a:xfrm>
            <a:off x="7850263" y="4614777"/>
            <a:ext cx="2247620" cy="646331"/>
          </a:xfrm>
          <a:prstGeom prst="rect">
            <a:avLst/>
          </a:prstGeom>
          <a:noFill/>
        </p:spPr>
        <p:txBody>
          <a:bodyPr wrap="square">
            <a:spAutoFit/>
          </a:bodyPr>
          <a:lstStyle/>
          <a:p>
            <a:pPr algn="ctr"/>
            <a:r>
              <a:rPr lang="en-US" altLang="zh-CN" dirty="0" err="1">
                <a:latin typeface="宋体" panose="02010600030101010101" pitchFamily="2" charset="-122"/>
                <a:ea typeface="宋体" panose="02010600030101010101" pitchFamily="2" charset="-122"/>
              </a:rPr>
              <a:t>sleep_latency_mins</a:t>
            </a:r>
            <a:endParaRPr lang="en-US" altLang="zh-CN" dirty="0">
              <a:latin typeface="宋体" panose="02010600030101010101" pitchFamily="2" charset="-122"/>
              <a:ea typeface="宋体" panose="02010600030101010101" pitchFamily="2" charset="-122"/>
            </a:endParaRPr>
          </a:p>
          <a:p>
            <a:pPr algn="ctr"/>
            <a:r>
              <a:rPr lang="en-US" altLang="zh-CN" dirty="0">
                <a:latin typeface="宋体" panose="02010600030101010101" pitchFamily="2" charset="-122"/>
                <a:ea typeface="宋体" panose="02010600030101010101" pitchFamily="2" charset="-122"/>
              </a:rPr>
              <a:t>Regression</a:t>
            </a:r>
            <a:endParaRPr lang="zh-CN" altLang="en-US" dirty="0">
              <a:latin typeface="宋体" panose="02010600030101010101" pitchFamily="2" charset="-122"/>
              <a:ea typeface="宋体" panose="02010600030101010101" pitchFamily="2" charset="-122"/>
            </a:endParaRPr>
          </a:p>
        </p:txBody>
      </p:sp>
      <p:pic>
        <p:nvPicPr>
          <p:cNvPr id="9" name="图片 8">
            <a:extLst>
              <a:ext uri="{FF2B5EF4-FFF2-40B4-BE49-F238E27FC236}">
                <a16:creationId xmlns:a16="http://schemas.microsoft.com/office/drawing/2014/main" id="{16EA6C90-457B-4EC0-A004-B1FC8011D21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6913" y="615067"/>
            <a:ext cx="6135937" cy="2384108"/>
          </a:xfrm>
          <a:prstGeom prst="rect">
            <a:avLst/>
          </a:prstGeom>
          <a:noFill/>
          <a:ln>
            <a:noFill/>
          </a:ln>
        </p:spPr>
      </p:pic>
      <p:pic>
        <p:nvPicPr>
          <p:cNvPr id="10" name="图片 9">
            <a:extLst>
              <a:ext uri="{FF2B5EF4-FFF2-40B4-BE49-F238E27FC236}">
                <a16:creationId xmlns:a16="http://schemas.microsoft.com/office/drawing/2014/main" id="{D2016739-93D5-4B5D-85AD-A30A4EDA30FB}"/>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06912" y="3712782"/>
            <a:ext cx="6135937" cy="2450322"/>
          </a:xfrm>
          <a:prstGeom prst="rect">
            <a:avLst/>
          </a:prstGeom>
          <a:noFill/>
          <a:ln>
            <a:noFill/>
          </a:ln>
        </p:spPr>
      </p:pic>
    </p:spTree>
    <p:extLst>
      <p:ext uri="{BB962C8B-B14F-4D97-AF65-F5344CB8AC3E}">
        <p14:creationId xmlns:p14="http://schemas.microsoft.com/office/powerpoint/2010/main" val="1585714523"/>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37</a:t>
            </a:fld>
            <a:endParaRPr lang="zh-CN" altLang="en-US" noProof="0"/>
          </a:p>
        </p:txBody>
      </p:sp>
      <p:sp>
        <p:nvSpPr>
          <p:cNvPr id="12" name="文本框 11">
            <a:extLst>
              <a:ext uri="{FF2B5EF4-FFF2-40B4-BE49-F238E27FC236}">
                <a16:creationId xmlns:a16="http://schemas.microsoft.com/office/drawing/2014/main" id="{B12154E4-4656-44E4-9E0A-E9325599FA82}"/>
              </a:ext>
            </a:extLst>
          </p:cNvPr>
          <p:cNvSpPr txBox="1"/>
          <p:nvPr/>
        </p:nvSpPr>
        <p:spPr>
          <a:xfrm>
            <a:off x="8235318" y="4727714"/>
            <a:ext cx="2272673" cy="646331"/>
          </a:xfrm>
          <a:prstGeom prst="rect">
            <a:avLst/>
          </a:prstGeom>
          <a:noFill/>
        </p:spPr>
        <p:txBody>
          <a:bodyPr wrap="square">
            <a:spAutoFit/>
          </a:bodyPr>
          <a:lstStyle/>
          <a:p>
            <a:pPr algn="ctr"/>
            <a:r>
              <a:rPr lang="en-US" altLang="zh-CN" dirty="0" err="1">
                <a:latin typeface="宋体" panose="02010600030101010101" pitchFamily="2" charset="-122"/>
                <a:ea typeface="宋体" panose="02010600030101010101" pitchFamily="2" charset="-122"/>
              </a:rPr>
              <a:t>rem_percentage</a:t>
            </a:r>
            <a:endParaRPr lang="en-US" altLang="zh-CN" dirty="0">
              <a:latin typeface="宋体" panose="02010600030101010101" pitchFamily="2" charset="-122"/>
              <a:ea typeface="宋体" panose="02010600030101010101" pitchFamily="2" charset="-122"/>
            </a:endParaRPr>
          </a:p>
          <a:p>
            <a:pPr algn="ctr"/>
            <a:r>
              <a:rPr lang="en-US" altLang="zh-CN" dirty="0">
                <a:latin typeface="宋体" panose="02010600030101010101" pitchFamily="2" charset="-122"/>
                <a:ea typeface="宋体" panose="02010600030101010101" pitchFamily="2" charset="-122"/>
              </a:rPr>
              <a:t>Regression</a:t>
            </a:r>
            <a:endParaRPr lang="zh-CN" altLang="en-US" dirty="0">
              <a:latin typeface="宋体" panose="02010600030101010101" pitchFamily="2" charset="-122"/>
              <a:ea typeface="宋体" panose="02010600030101010101" pitchFamily="2" charset="-122"/>
            </a:endParaRPr>
          </a:p>
        </p:txBody>
      </p:sp>
      <p:sp>
        <p:nvSpPr>
          <p:cNvPr id="8" name="文本框 7">
            <a:extLst>
              <a:ext uri="{FF2B5EF4-FFF2-40B4-BE49-F238E27FC236}">
                <a16:creationId xmlns:a16="http://schemas.microsoft.com/office/drawing/2014/main" id="{A4E3CF24-66AC-4CC2-BB78-AC48C3BD0B11}"/>
              </a:ext>
            </a:extLst>
          </p:cNvPr>
          <p:cNvSpPr txBox="1"/>
          <p:nvPr/>
        </p:nvSpPr>
        <p:spPr>
          <a:xfrm>
            <a:off x="8000055" y="1406148"/>
            <a:ext cx="2743200" cy="646331"/>
          </a:xfrm>
          <a:prstGeom prst="rect">
            <a:avLst/>
          </a:prstGeom>
          <a:noFill/>
        </p:spPr>
        <p:txBody>
          <a:bodyPr wrap="square">
            <a:spAutoFit/>
          </a:bodyPr>
          <a:lstStyle/>
          <a:p>
            <a:pPr algn="ctr"/>
            <a:r>
              <a:rPr lang="en-US" altLang="zh-CN" dirty="0" err="1">
                <a:latin typeface="宋体" panose="02010600030101010101" pitchFamily="2" charset="-122"/>
                <a:ea typeface="宋体" panose="02010600030101010101" pitchFamily="2" charset="-122"/>
              </a:rPr>
              <a:t>deep_sleep_percentage</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rPr>
              <a:t>Regression</a:t>
            </a:r>
            <a:endParaRPr lang="zh-CN" altLang="en-US" dirty="0">
              <a:latin typeface="宋体" panose="02010600030101010101" pitchFamily="2" charset="-122"/>
              <a:ea typeface="宋体" panose="02010600030101010101" pitchFamily="2" charset="-122"/>
            </a:endParaRPr>
          </a:p>
        </p:txBody>
      </p:sp>
      <p:pic>
        <p:nvPicPr>
          <p:cNvPr id="5" name="图片 4">
            <a:extLst>
              <a:ext uri="{FF2B5EF4-FFF2-40B4-BE49-F238E27FC236}">
                <a16:creationId xmlns:a16="http://schemas.microsoft.com/office/drawing/2014/main" id="{C6BB617A-42C2-420D-BE31-C4C8B910C52D}"/>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3691" y="262238"/>
            <a:ext cx="6114117" cy="2934153"/>
          </a:xfrm>
          <a:prstGeom prst="rect">
            <a:avLst/>
          </a:prstGeom>
          <a:noFill/>
          <a:ln>
            <a:noFill/>
          </a:ln>
        </p:spPr>
      </p:pic>
      <p:pic>
        <p:nvPicPr>
          <p:cNvPr id="7" name="图片 6">
            <a:extLst>
              <a:ext uri="{FF2B5EF4-FFF2-40B4-BE49-F238E27FC236}">
                <a16:creationId xmlns:a16="http://schemas.microsoft.com/office/drawing/2014/main" id="{4C183BF0-A5A4-44F4-A3B8-014EDF9DEA8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3692" y="3544901"/>
            <a:ext cx="6114116" cy="3011958"/>
          </a:xfrm>
          <a:prstGeom prst="rect">
            <a:avLst/>
          </a:prstGeom>
          <a:noFill/>
          <a:ln>
            <a:noFill/>
          </a:ln>
        </p:spPr>
      </p:pic>
    </p:spTree>
    <p:extLst>
      <p:ext uri="{BB962C8B-B14F-4D97-AF65-F5344CB8AC3E}">
        <p14:creationId xmlns:p14="http://schemas.microsoft.com/office/powerpoint/2010/main" val="2858181487"/>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38</a:t>
            </a:fld>
            <a:endParaRPr lang="zh-CN" altLang="en-US" noProof="0"/>
          </a:p>
        </p:txBody>
      </p:sp>
      <p:sp>
        <p:nvSpPr>
          <p:cNvPr id="10" name="文本框 9">
            <a:extLst>
              <a:ext uri="{FF2B5EF4-FFF2-40B4-BE49-F238E27FC236}">
                <a16:creationId xmlns:a16="http://schemas.microsoft.com/office/drawing/2014/main" id="{A35FF71F-EB13-4649-BFD6-8D8F30327535}"/>
              </a:ext>
            </a:extLst>
          </p:cNvPr>
          <p:cNvSpPr txBox="1"/>
          <p:nvPr/>
        </p:nvSpPr>
        <p:spPr>
          <a:xfrm>
            <a:off x="7965645" y="4836299"/>
            <a:ext cx="1888332" cy="646331"/>
          </a:xfrm>
          <a:prstGeom prst="rect">
            <a:avLst/>
          </a:prstGeom>
          <a:noFill/>
        </p:spPr>
        <p:txBody>
          <a:bodyPr wrap="square">
            <a:spAutoFit/>
          </a:bodyPr>
          <a:lstStyle/>
          <a:p>
            <a:pPr algn="ctr"/>
            <a:r>
              <a:rPr lang="en-US" altLang="zh-CN" dirty="0" err="1">
                <a:latin typeface="宋体" panose="02010600030101010101" pitchFamily="2" charset="-122"/>
                <a:ea typeface="宋体" panose="02010600030101010101" pitchFamily="2" charset="-122"/>
              </a:rPr>
              <a:t>felt_rested</a:t>
            </a:r>
            <a:endParaRPr lang="en-US" altLang="zh-CN" dirty="0">
              <a:latin typeface="宋体" panose="02010600030101010101" pitchFamily="2" charset="-122"/>
              <a:ea typeface="宋体" panose="02010600030101010101" pitchFamily="2" charset="-122"/>
            </a:endParaRPr>
          </a:p>
          <a:p>
            <a:pPr algn="ctr"/>
            <a:r>
              <a:rPr lang="en-US" altLang="zh-CN" dirty="0">
                <a:latin typeface="宋体" panose="02010600030101010101" pitchFamily="2" charset="-122"/>
                <a:ea typeface="宋体" panose="02010600030101010101" pitchFamily="2" charset="-122"/>
              </a:rPr>
              <a:t>Classification</a:t>
            </a:r>
            <a:endParaRPr lang="zh-CN" altLang="en-US" dirty="0">
              <a:latin typeface="宋体" panose="02010600030101010101" pitchFamily="2" charset="-122"/>
              <a:ea typeface="宋体" panose="02010600030101010101" pitchFamily="2" charset="-122"/>
            </a:endParaRPr>
          </a:p>
        </p:txBody>
      </p:sp>
      <p:sp>
        <p:nvSpPr>
          <p:cNvPr id="7" name="文本框 6">
            <a:extLst>
              <a:ext uri="{FF2B5EF4-FFF2-40B4-BE49-F238E27FC236}">
                <a16:creationId xmlns:a16="http://schemas.microsoft.com/office/drawing/2014/main" id="{9DD0FD58-70C8-4EC8-BD4C-83500F3B891A}"/>
              </a:ext>
            </a:extLst>
          </p:cNvPr>
          <p:cNvSpPr txBox="1"/>
          <p:nvPr/>
        </p:nvSpPr>
        <p:spPr>
          <a:xfrm>
            <a:off x="1695344" y="4836300"/>
            <a:ext cx="2874400" cy="646331"/>
          </a:xfrm>
          <a:prstGeom prst="rect">
            <a:avLst/>
          </a:prstGeom>
          <a:noFill/>
        </p:spPr>
        <p:txBody>
          <a:bodyPr wrap="square">
            <a:spAutoFit/>
          </a:bodyPr>
          <a:lstStyle/>
          <a:p>
            <a:pPr algn="ctr"/>
            <a:r>
              <a:rPr lang="en-US" altLang="zh-CN" dirty="0" err="1">
                <a:latin typeface="宋体" panose="02010600030101010101" pitchFamily="2" charset="-122"/>
                <a:ea typeface="宋体" panose="02010600030101010101" pitchFamily="2" charset="-122"/>
              </a:rPr>
              <a:t>mental_health_condition</a:t>
            </a:r>
            <a:endParaRPr lang="en-US" altLang="zh-CN" dirty="0">
              <a:latin typeface="宋体" panose="02010600030101010101" pitchFamily="2" charset="-122"/>
              <a:ea typeface="宋体" panose="02010600030101010101" pitchFamily="2" charset="-122"/>
            </a:endParaRPr>
          </a:p>
          <a:p>
            <a:pPr algn="ctr"/>
            <a:r>
              <a:rPr lang="en-US" altLang="zh-CN" dirty="0">
                <a:latin typeface="宋体" panose="02010600030101010101" pitchFamily="2" charset="-122"/>
                <a:ea typeface="宋体" panose="02010600030101010101" pitchFamily="2" charset="-122"/>
              </a:rPr>
              <a:t>Classification</a:t>
            </a:r>
            <a:endParaRPr lang="zh-CN" altLang="en-US" dirty="0">
              <a:latin typeface="宋体" panose="02010600030101010101" pitchFamily="2" charset="-122"/>
              <a:ea typeface="宋体" panose="02010600030101010101" pitchFamily="2" charset="-122"/>
            </a:endParaRPr>
          </a:p>
        </p:txBody>
      </p:sp>
      <p:pic>
        <p:nvPicPr>
          <p:cNvPr id="11" name="图片 10">
            <a:extLst>
              <a:ext uri="{FF2B5EF4-FFF2-40B4-BE49-F238E27FC236}">
                <a16:creationId xmlns:a16="http://schemas.microsoft.com/office/drawing/2014/main" id="{0C5E690B-2C2E-411C-929C-53CC874713B1}"/>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1221778"/>
            <a:ext cx="5627623" cy="3297785"/>
          </a:xfrm>
          <a:prstGeom prst="rect">
            <a:avLst/>
          </a:prstGeom>
          <a:noFill/>
          <a:ln>
            <a:noFill/>
          </a:ln>
        </p:spPr>
      </p:pic>
      <p:pic>
        <p:nvPicPr>
          <p:cNvPr id="12" name="图片 11">
            <a:extLst>
              <a:ext uri="{FF2B5EF4-FFF2-40B4-BE49-F238E27FC236}">
                <a16:creationId xmlns:a16="http://schemas.microsoft.com/office/drawing/2014/main" id="{B0AC3A99-0852-402F-9625-5177C43376B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6335" y="1221778"/>
            <a:ext cx="5092419" cy="3297785"/>
          </a:xfrm>
          <a:prstGeom prst="rect">
            <a:avLst/>
          </a:prstGeom>
          <a:noFill/>
          <a:ln>
            <a:noFill/>
          </a:ln>
        </p:spPr>
      </p:pic>
    </p:spTree>
    <p:extLst>
      <p:ext uri="{BB962C8B-B14F-4D97-AF65-F5344CB8AC3E}">
        <p14:creationId xmlns:p14="http://schemas.microsoft.com/office/powerpoint/2010/main" val="2690703530"/>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39</a:t>
            </a:fld>
            <a:endParaRPr lang="zh-CN" altLang="en-US" noProof="0"/>
          </a:p>
        </p:txBody>
      </p:sp>
      <p:sp>
        <p:nvSpPr>
          <p:cNvPr id="7" name="文本框 6">
            <a:extLst>
              <a:ext uri="{FF2B5EF4-FFF2-40B4-BE49-F238E27FC236}">
                <a16:creationId xmlns:a16="http://schemas.microsoft.com/office/drawing/2014/main" id="{0C8742F3-8336-4675-B929-23273D256D8D}"/>
              </a:ext>
            </a:extLst>
          </p:cNvPr>
          <p:cNvSpPr txBox="1"/>
          <p:nvPr/>
        </p:nvSpPr>
        <p:spPr>
          <a:xfrm>
            <a:off x="5151833" y="5710019"/>
            <a:ext cx="1888332" cy="646331"/>
          </a:xfrm>
          <a:prstGeom prst="rect">
            <a:avLst/>
          </a:prstGeom>
          <a:noFill/>
        </p:spPr>
        <p:txBody>
          <a:bodyPr wrap="square">
            <a:spAutoFit/>
          </a:bodyPr>
          <a:lstStyle/>
          <a:p>
            <a:pPr algn="ctr"/>
            <a:r>
              <a:rPr lang="en-US" altLang="zh-CN" dirty="0">
                <a:latin typeface="宋体" panose="02010600030101010101" pitchFamily="2" charset="-122"/>
                <a:ea typeface="宋体" panose="02010600030101010101" pitchFamily="2" charset="-122"/>
              </a:rPr>
              <a:t>occupation</a:t>
            </a:r>
          </a:p>
          <a:p>
            <a:pPr algn="ctr"/>
            <a:r>
              <a:rPr lang="en-US" altLang="zh-CN" dirty="0">
                <a:latin typeface="宋体" panose="02010600030101010101" pitchFamily="2" charset="-122"/>
                <a:ea typeface="宋体" panose="02010600030101010101" pitchFamily="2" charset="-122"/>
              </a:rPr>
              <a:t>Classification</a:t>
            </a:r>
            <a:endParaRPr lang="zh-CN" altLang="en-US" dirty="0">
              <a:latin typeface="宋体" panose="02010600030101010101" pitchFamily="2" charset="-122"/>
              <a:ea typeface="宋体" panose="02010600030101010101" pitchFamily="2" charset="-122"/>
            </a:endParaRPr>
          </a:p>
        </p:txBody>
      </p:sp>
      <p:pic>
        <p:nvPicPr>
          <p:cNvPr id="5" name="图片 4">
            <a:extLst>
              <a:ext uri="{FF2B5EF4-FFF2-40B4-BE49-F238E27FC236}">
                <a16:creationId xmlns:a16="http://schemas.microsoft.com/office/drawing/2014/main" id="{73E8821F-53D7-42F6-A254-A5DB61FCC1C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7623" y="631108"/>
            <a:ext cx="5216753" cy="4781796"/>
          </a:xfrm>
          <a:prstGeom prst="rect">
            <a:avLst/>
          </a:prstGeom>
          <a:noFill/>
          <a:ln>
            <a:noFill/>
          </a:ln>
        </p:spPr>
      </p:pic>
    </p:spTree>
    <p:extLst>
      <p:ext uri="{BB962C8B-B14F-4D97-AF65-F5344CB8AC3E}">
        <p14:creationId xmlns:p14="http://schemas.microsoft.com/office/powerpoint/2010/main" val="1799166834"/>
      </p:ext>
    </p:extLst>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16">
            <a:extLst>
              <a:ext uri="{FF2B5EF4-FFF2-40B4-BE49-F238E27FC236}">
                <a16:creationId xmlns:a16="http://schemas.microsoft.com/office/drawing/2014/main" id="{59E313EE-3388-4BEC-BB1A-180155B86F66}"/>
              </a:ext>
            </a:extLst>
          </p:cNvPr>
          <p:cNvSpPr>
            <a:spLocks noGrp="1"/>
          </p:cNvSpPr>
          <p:nvPr>
            <p:ph type="sldNum" sz="quarter" idx="12"/>
          </p:nvPr>
        </p:nvSpPr>
        <p:spPr/>
        <p:txBody>
          <a:bodyPr/>
          <a:lstStyle/>
          <a:p>
            <a:fld id="{B5CEABB6-07DC-46E8-9B57-56EC44A396E5}" type="slidenum">
              <a:rPr lang="en-US" altLang="zh-CN" noProof="0" smtClean="0"/>
              <a:pPr/>
              <a:t>40</a:t>
            </a:fld>
            <a:endParaRPr lang="zh-CN" altLang="en-US" noProof="0"/>
          </a:p>
        </p:txBody>
      </p:sp>
      <p:sp>
        <p:nvSpPr>
          <p:cNvPr id="20" name="文本框 19">
            <a:extLst>
              <a:ext uri="{FF2B5EF4-FFF2-40B4-BE49-F238E27FC236}">
                <a16:creationId xmlns:a16="http://schemas.microsoft.com/office/drawing/2014/main" id="{B23C6276-C591-4B0E-9A94-CDA9BB5209A9}"/>
              </a:ext>
            </a:extLst>
          </p:cNvPr>
          <p:cNvSpPr txBox="1"/>
          <p:nvPr/>
        </p:nvSpPr>
        <p:spPr>
          <a:xfrm>
            <a:off x="878115" y="1582057"/>
            <a:ext cx="10337800" cy="4391138"/>
          </a:xfrm>
          <a:prstGeom prst="rect">
            <a:avLst/>
          </a:prstGeom>
          <a:noFill/>
        </p:spPr>
        <p:txBody>
          <a:bodyPr wrap="square" rtlCol="0">
            <a:spAutoFit/>
          </a:bodyPr>
          <a:lstStyle/>
          <a:p>
            <a:pPr marL="342900" indent="-342900">
              <a:lnSpc>
                <a:spcPts val="3400"/>
              </a:lnSpc>
              <a:buFont typeface="Arial" panose="020B0604020202020204" pitchFamily="34" charset="0"/>
              <a:buChar char="•"/>
            </a:pPr>
            <a:r>
              <a:rPr lang="zh-CN" altLang="en-US" sz="2200" dirty="0">
                <a:latin typeface="宋体" panose="02010600030101010101" pitchFamily="2" charset="-122"/>
                <a:ea typeface="宋体" panose="02010600030101010101" pitchFamily="2" charset="-122"/>
              </a:rPr>
              <a:t>刘舜：</a:t>
            </a:r>
            <a:r>
              <a:rPr lang="zh-CN" altLang="zh-CN" sz="2200" dirty="0">
                <a:latin typeface="宋体" panose="02010600030101010101" pitchFamily="2" charset="-122"/>
                <a:ea typeface="宋体" panose="02010600030101010101" pitchFamily="2" charset="-122"/>
              </a:rPr>
              <a:t>负责选题和搜集数据；负责开发</a:t>
            </a:r>
            <a:r>
              <a:rPr lang="en-US" altLang="zh-CN" sz="2200" dirty="0" err="1">
                <a:latin typeface="宋体" panose="02010600030101010101" pitchFamily="2" charset="-122"/>
                <a:ea typeface="宋体" panose="02010600030101010101" pitchFamily="2" charset="-122"/>
              </a:rPr>
              <a:t>SparkSQL</a:t>
            </a:r>
            <a:r>
              <a:rPr lang="zh-CN" altLang="zh-CN" sz="2200" dirty="0">
                <a:latin typeface="宋体" panose="02010600030101010101" pitchFamily="2" charset="-122"/>
                <a:ea typeface="宋体" panose="02010600030101010101" pitchFamily="2" charset="-122"/>
              </a:rPr>
              <a:t>代码，从</a:t>
            </a:r>
            <a:r>
              <a:rPr lang="en-US" altLang="zh-CN" sz="2200" dirty="0">
                <a:latin typeface="宋体" panose="02010600030101010101" pitchFamily="2" charset="-122"/>
                <a:ea typeface="宋体" panose="02010600030101010101" pitchFamily="2" charset="-122"/>
              </a:rPr>
              <a:t>HDFS(Linux</a:t>
            </a:r>
            <a:r>
              <a:rPr lang="zh-CN" altLang="zh-CN" sz="2200" dirty="0">
                <a:latin typeface="宋体" panose="02010600030101010101" pitchFamily="2" charset="-122"/>
                <a:ea typeface="宋体" panose="02010600030101010101" pitchFamily="2" charset="-122"/>
              </a:rPr>
              <a:t>端</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中把数据读入</a:t>
            </a:r>
            <a:r>
              <a:rPr lang="en-US" altLang="zh-CN" sz="2200" dirty="0">
                <a:latin typeface="宋体" panose="02010600030101010101" pitchFamily="2" charset="-122"/>
                <a:ea typeface="宋体" panose="02010600030101010101" pitchFamily="2" charset="-122"/>
              </a:rPr>
              <a:t>MySQL(Windows</a:t>
            </a:r>
            <a:r>
              <a:rPr lang="zh-CN" altLang="zh-CN" sz="2200" dirty="0">
                <a:latin typeface="宋体" panose="02010600030101010101" pitchFamily="2" charset="-122"/>
                <a:ea typeface="宋体" panose="02010600030101010101" pitchFamily="2" charset="-122"/>
              </a:rPr>
              <a:t>端</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中；开发</a:t>
            </a:r>
            <a:r>
              <a:rPr lang="en-US" altLang="zh-CN" sz="2200" dirty="0" err="1">
                <a:latin typeface="宋体" panose="02010600030101010101" pitchFamily="2" charset="-122"/>
                <a:ea typeface="宋体" panose="02010600030101010101" pitchFamily="2" charset="-122"/>
              </a:rPr>
              <a:t>XGBoost</a:t>
            </a:r>
            <a:r>
              <a:rPr lang="zh-CN" altLang="zh-CN" sz="2200" dirty="0">
                <a:latin typeface="宋体" panose="02010600030101010101" pitchFamily="2" charset="-122"/>
                <a:ea typeface="宋体" panose="02010600030101010101" pitchFamily="2" charset="-122"/>
              </a:rPr>
              <a:t>代码，得到模型；开发</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模型预测</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、“模型评测”界面；攥写报告。</a:t>
            </a:r>
            <a:endParaRPr lang="en-US" altLang="zh-CN" sz="2200" dirty="0">
              <a:latin typeface="宋体" panose="02010600030101010101" pitchFamily="2" charset="-122"/>
              <a:ea typeface="宋体" panose="02010600030101010101" pitchFamily="2" charset="-122"/>
            </a:endParaRPr>
          </a:p>
          <a:p>
            <a:pPr marL="342900" indent="-342900">
              <a:lnSpc>
                <a:spcPts val="3400"/>
              </a:lnSpc>
              <a:buFont typeface="Arial" panose="020B0604020202020204" pitchFamily="34" charset="0"/>
              <a:buChar char="•"/>
            </a:pPr>
            <a:r>
              <a:rPr lang="zh-CN" altLang="en-US" sz="2200" dirty="0">
                <a:latin typeface="宋体" panose="02010600030101010101" pitchFamily="2" charset="-122"/>
                <a:ea typeface="宋体" panose="02010600030101010101" pitchFamily="2" charset="-122"/>
              </a:rPr>
              <a:t>薛继祥：</a:t>
            </a:r>
            <a:r>
              <a:rPr lang="zh-CN" altLang="zh-CN" sz="2200" dirty="0">
                <a:latin typeface="宋体" panose="02010600030101010101" pitchFamily="2" charset="-122"/>
                <a:ea typeface="宋体" panose="02010600030101010101" pitchFamily="2" charset="-122"/>
              </a:rPr>
              <a:t>对</a:t>
            </a:r>
            <a:r>
              <a:rPr lang="en-US" altLang="zh-CN" sz="2200" dirty="0" err="1">
                <a:latin typeface="宋体" panose="02010600030101010101" pitchFamily="2" charset="-122"/>
                <a:ea typeface="宋体" panose="02010600030101010101" pitchFamily="2" charset="-122"/>
              </a:rPr>
              <a:t>SpringBoot</a:t>
            </a:r>
            <a:r>
              <a:rPr lang="en-US" altLang="zh-CN" sz="2200" dirty="0">
                <a:latin typeface="宋体" panose="02010600030101010101" pitchFamily="2" charset="-122"/>
                <a:ea typeface="宋体" panose="02010600030101010101" pitchFamily="2" charset="-122"/>
              </a:rPr>
              <a:t> + </a:t>
            </a:r>
            <a:r>
              <a:rPr lang="en-US" altLang="zh-CN" sz="2200" dirty="0" err="1">
                <a:latin typeface="宋体" panose="02010600030101010101" pitchFamily="2" charset="-122"/>
                <a:ea typeface="宋体" panose="02010600030101010101" pitchFamily="2" charset="-122"/>
              </a:rPr>
              <a:t>Echarts</a:t>
            </a:r>
            <a:r>
              <a:rPr lang="zh-CN" altLang="zh-CN" sz="2200" dirty="0">
                <a:latin typeface="宋体" panose="02010600030101010101" pitchFamily="2" charset="-122"/>
                <a:ea typeface="宋体" panose="02010600030101010101" pitchFamily="2" charset="-122"/>
              </a:rPr>
              <a:t>的架构负责；整合所有人的页面代码；开发“主界面”、</a:t>
            </a:r>
            <a:r>
              <a:rPr lang="en-US" altLang="zh-CN" sz="2200" dirty="0">
                <a:latin typeface="宋体" panose="02010600030101010101" pitchFamily="2" charset="-122"/>
                <a:ea typeface="宋体" panose="02010600030101010101" pitchFamily="2" charset="-122"/>
              </a:rPr>
              <a:t> “</a:t>
            </a:r>
            <a:r>
              <a:rPr lang="zh-CN" altLang="zh-CN" sz="2200" dirty="0">
                <a:latin typeface="宋体" panose="02010600030101010101" pitchFamily="2" charset="-122"/>
                <a:ea typeface="宋体" panose="02010600030101010101" pitchFamily="2" charset="-122"/>
              </a:rPr>
              <a:t>仪表盘</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界面、</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睡眠质量分布</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界面、</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全球分布图</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界面；攥写报告</a:t>
            </a:r>
            <a:r>
              <a:rPr lang="zh-CN" altLang="en-US" sz="2200" dirty="0">
                <a:latin typeface="宋体" panose="02010600030101010101" pitchFamily="2" charset="-122"/>
                <a:ea typeface="宋体" panose="02010600030101010101" pitchFamily="2" charset="-122"/>
              </a:rPr>
              <a:t>。</a:t>
            </a:r>
            <a:endParaRPr lang="en-US" altLang="zh-CN" sz="2200" dirty="0">
              <a:latin typeface="宋体" panose="02010600030101010101" pitchFamily="2" charset="-122"/>
              <a:ea typeface="宋体" panose="02010600030101010101" pitchFamily="2" charset="-122"/>
            </a:endParaRPr>
          </a:p>
          <a:p>
            <a:pPr marL="342900" indent="-342900">
              <a:lnSpc>
                <a:spcPts val="3400"/>
              </a:lnSpc>
              <a:buFont typeface="Arial" panose="020B0604020202020204" pitchFamily="34" charset="0"/>
              <a:buChar char="•"/>
            </a:pPr>
            <a:r>
              <a:rPr lang="zh-CN" altLang="en-US" sz="2200" dirty="0">
                <a:latin typeface="宋体" panose="02010600030101010101" pitchFamily="2" charset="-122"/>
                <a:ea typeface="宋体" panose="02010600030101010101" pitchFamily="2" charset="-122"/>
              </a:rPr>
              <a:t>江可：开发“睡眠结构分析”界面。</a:t>
            </a:r>
            <a:endParaRPr lang="en-US" altLang="zh-CN" sz="2200" dirty="0">
              <a:latin typeface="宋体" panose="02010600030101010101" pitchFamily="2" charset="-122"/>
              <a:ea typeface="宋体" panose="02010600030101010101" pitchFamily="2" charset="-122"/>
            </a:endParaRPr>
          </a:p>
          <a:p>
            <a:pPr marL="342900" indent="-342900">
              <a:lnSpc>
                <a:spcPts val="3400"/>
              </a:lnSpc>
              <a:buFont typeface="Arial" panose="020B0604020202020204" pitchFamily="34" charset="0"/>
              <a:buChar char="•"/>
            </a:pPr>
            <a:r>
              <a:rPr lang="zh-CN" altLang="en-US" sz="2200" dirty="0">
                <a:latin typeface="宋体" panose="02010600030101010101" pitchFamily="2" charset="-122"/>
                <a:ea typeface="宋体" panose="02010600030101010101" pitchFamily="2" charset="-122"/>
              </a:rPr>
              <a:t>魏子琛：开发“维度对比分析”界面。</a:t>
            </a:r>
            <a:endParaRPr lang="en-US" altLang="zh-CN" sz="2200" dirty="0">
              <a:latin typeface="宋体" panose="02010600030101010101" pitchFamily="2" charset="-122"/>
              <a:ea typeface="宋体" panose="02010600030101010101" pitchFamily="2" charset="-122"/>
            </a:endParaRPr>
          </a:p>
          <a:p>
            <a:pPr marL="342900" indent="-342900">
              <a:lnSpc>
                <a:spcPts val="3400"/>
              </a:lnSpc>
              <a:buFont typeface="Arial" panose="020B0604020202020204" pitchFamily="34" charset="0"/>
              <a:buChar char="•"/>
            </a:pPr>
            <a:r>
              <a:rPr lang="zh-CN" altLang="en-US" sz="2200" dirty="0">
                <a:latin typeface="宋体" panose="02010600030101010101" pitchFamily="2" charset="-122"/>
                <a:ea typeface="宋体" panose="02010600030101010101" pitchFamily="2" charset="-122"/>
              </a:rPr>
              <a:t>蒋杨帆：开发“热力图分析”界面。</a:t>
            </a:r>
            <a:endParaRPr lang="en-US" altLang="zh-CN" sz="2200" dirty="0">
              <a:latin typeface="宋体" panose="02010600030101010101" pitchFamily="2" charset="-122"/>
              <a:ea typeface="宋体" panose="02010600030101010101" pitchFamily="2" charset="-122"/>
            </a:endParaRPr>
          </a:p>
          <a:p>
            <a:pPr marL="342900" indent="-342900">
              <a:lnSpc>
                <a:spcPts val="3400"/>
              </a:lnSpc>
              <a:buFont typeface="Arial" panose="020B0604020202020204" pitchFamily="34" charset="0"/>
              <a:buChar char="•"/>
            </a:pPr>
            <a:r>
              <a:rPr lang="zh-CN" altLang="en-US" sz="2200" dirty="0">
                <a:latin typeface="宋体" panose="02010600030101010101" pitchFamily="2" charset="-122"/>
                <a:ea typeface="宋体" panose="02010600030101010101" pitchFamily="2" charset="-122"/>
              </a:rPr>
              <a:t>丛玺航：开发“睡前行为分析”界面。</a:t>
            </a:r>
            <a:endParaRPr lang="en-US" altLang="zh-CN" sz="2200" dirty="0">
              <a:latin typeface="宋体" panose="02010600030101010101" pitchFamily="2" charset="-122"/>
              <a:ea typeface="宋体" panose="02010600030101010101" pitchFamily="2" charset="-122"/>
            </a:endParaRPr>
          </a:p>
        </p:txBody>
      </p:sp>
      <p:sp>
        <p:nvSpPr>
          <p:cNvPr id="21" name="文本框 20">
            <a:extLst>
              <a:ext uri="{FF2B5EF4-FFF2-40B4-BE49-F238E27FC236}">
                <a16:creationId xmlns:a16="http://schemas.microsoft.com/office/drawing/2014/main" id="{19DE2529-98D9-4173-AD03-910876F99B1A}"/>
              </a:ext>
            </a:extLst>
          </p:cNvPr>
          <p:cNvSpPr txBox="1"/>
          <p:nvPr/>
        </p:nvSpPr>
        <p:spPr>
          <a:xfrm>
            <a:off x="878115" y="580570"/>
            <a:ext cx="2169886" cy="646331"/>
          </a:xfrm>
          <a:prstGeom prst="rect">
            <a:avLst/>
          </a:prstGeom>
          <a:noFill/>
        </p:spPr>
        <p:txBody>
          <a:bodyPr wrap="square" rtlCol="0">
            <a:spAutoFit/>
          </a:bodyPr>
          <a:lstStyle/>
          <a:p>
            <a:r>
              <a:rPr lang="zh-CN" altLang="en-US" sz="3600" dirty="0">
                <a:latin typeface="宋体" panose="02010600030101010101" pitchFamily="2" charset="-122"/>
                <a:ea typeface="宋体" panose="02010600030101010101" pitchFamily="2" charset="-122"/>
              </a:rPr>
              <a:t>成员分工</a:t>
            </a:r>
          </a:p>
        </p:txBody>
      </p:sp>
    </p:spTree>
    <p:extLst>
      <p:ext uri="{BB962C8B-B14F-4D97-AF65-F5344CB8AC3E}">
        <p14:creationId xmlns:p14="http://schemas.microsoft.com/office/powerpoint/2010/main" val="8252314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CF87D2-41D0-45BC-A19B-1BF1F5CE6FE9}"/>
              </a:ext>
            </a:extLst>
          </p:cNvPr>
          <p:cNvSpPr>
            <a:spLocks noGrp="1"/>
          </p:cNvSpPr>
          <p:nvPr>
            <p:ph type="title"/>
          </p:nvPr>
        </p:nvSpPr>
        <p:spPr>
          <a:xfrm>
            <a:off x="1720287" y="2385391"/>
            <a:ext cx="3136900" cy="763951"/>
          </a:xfrm>
        </p:spPr>
        <p:txBody>
          <a:bodyPr>
            <a:normAutofit/>
          </a:bodyPr>
          <a:lstStyle/>
          <a:p>
            <a:r>
              <a:rPr lang="zh-CN" altLang="en-US" sz="4800" dirty="0"/>
              <a:t>谢谢观看！</a:t>
            </a:r>
          </a:p>
        </p:txBody>
      </p:sp>
      <p:sp>
        <p:nvSpPr>
          <p:cNvPr id="6" name="灯片编号占位符 5">
            <a:extLst>
              <a:ext uri="{FF2B5EF4-FFF2-40B4-BE49-F238E27FC236}">
                <a16:creationId xmlns:a16="http://schemas.microsoft.com/office/drawing/2014/main" id="{BB3B364F-AD36-4A01-87C7-506DD816F89B}"/>
              </a:ext>
            </a:extLst>
          </p:cNvPr>
          <p:cNvSpPr>
            <a:spLocks noGrp="1"/>
          </p:cNvSpPr>
          <p:nvPr>
            <p:ph type="sldNum" sz="quarter" idx="12"/>
          </p:nvPr>
        </p:nvSpPr>
        <p:spPr/>
        <p:txBody>
          <a:bodyPr/>
          <a:lstStyle/>
          <a:p>
            <a:fld id="{B5CEABB6-07DC-46E8-9B57-56EC44A396E5}" type="slidenum">
              <a:rPr lang="en-US" altLang="zh-CN" noProof="0" smtClean="0"/>
              <a:pPr/>
              <a:t>41</a:t>
            </a:fld>
            <a:endParaRPr lang="zh-CN" altLang="en-US" noProof="0"/>
          </a:p>
        </p:txBody>
      </p:sp>
      <p:sp>
        <p:nvSpPr>
          <p:cNvPr id="5" name="文本框 4">
            <a:extLst>
              <a:ext uri="{FF2B5EF4-FFF2-40B4-BE49-F238E27FC236}">
                <a16:creationId xmlns:a16="http://schemas.microsoft.com/office/drawing/2014/main" id="{577D4A22-DA8D-47D2-B968-4F00DE1E4857}"/>
              </a:ext>
            </a:extLst>
          </p:cNvPr>
          <p:cNvSpPr txBox="1"/>
          <p:nvPr/>
        </p:nvSpPr>
        <p:spPr>
          <a:xfrm>
            <a:off x="926530" y="4054348"/>
            <a:ext cx="4724413" cy="646331"/>
          </a:xfrm>
          <a:prstGeom prst="rect">
            <a:avLst/>
          </a:prstGeom>
          <a:noFill/>
        </p:spPr>
        <p:txBody>
          <a:bodyPr wrap="square" rtlCol="0">
            <a:spAutoFit/>
          </a:bodyPr>
          <a:lstStyle/>
          <a:p>
            <a:r>
              <a:rPr lang="en-US" altLang="zh-CN" sz="3600" dirty="0"/>
              <a:t>Thanks For Watching</a:t>
            </a:r>
            <a:r>
              <a:rPr lang="zh-CN" altLang="en-US" sz="3600" dirty="0"/>
              <a:t>！</a:t>
            </a:r>
          </a:p>
        </p:txBody>
      </p:sp>
    </p:spTree>
    <p:extLst>
      <p:ext uri="{BB962C8B-B14F-4D97-AF65-F5344CB8AC3E}">
        <p14:creationId xmlns:p14="http://schemas.microsoft.com/office/powerpoint/2010/main" val="3072462232"/>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单线">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9030_TF56180624_Win32" id="{9D727254-2BE9-4C85-8515-511A9B42E99C}" vid="{98F67272-6949-4B1C-8084-EC46719CFC4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F97B18F-50BC-4F30-8373-93489E845F8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2BC90D6-94CF-42F7-AAC4-9CF6824C54D5}">
  <ds:schemaRefs>
    <ds:schemaRef ds:uri="http://schemas.microsoft.com/sharepoint/v3/contenttype/forms"/>
  </ds:schemaRefs>
</ds:datastoreItem>
</file>

<file path=customXml/itemProps3.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717</TotalTime>
  <Words>2371</Words>
  <Application>Microsoft Office PowerPoint</Application>
  <PresentationFormat>宽屏</PresentationFormat>
  <Paragraphs>185</Paragraphs>
  <Slides>41</Slides>
  <Notes>23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41</vt:i4>
      </vt:variant>
    </vt:vector>
  </HeadingPairs>
  <TitlesOfParts>
    <vt:vector size="48" baseType="lpstr">
      <vt:lpstr>Microsoft YaHei UI</vt:lpstr>
      <vt:lpstr>仿宋</vt:lpstr>
      <vt:lpstr>宋体</vt:lpstr>
      <vt:lpstr>Arial</vt:lpstr>
      <vt:lpstr>High Tower Text</vt:lpstr>
      <vt:lpstr>Tenorite</vt:lpstr>
      <vt:lpstr>单线</vt:lpstr>
      <vt:lpstr>大数据技术实践 课堂汇报</vt:lpstr>
      <vt:lpstr>选题介绍</vt:lpstr>
      <vt:lpstr>PowerPoint 演示文稿</vt:lpstr>
      <vt:lpstr>PowerPoint 演示文稿</vt:lpstr>
      <vt:lpstr>HDFS + SparkSQL</vt:lpstr>
      <vt:lpstr>PowerPoint 演示文稿</vt:lpstr>
      <vt:lpstr>PowerPoint 演示文稿</vt:lpstr>
      <vt:lpstr>PowerPoint 演示文稿</vt:lpstr>
      <vt:lpstr>PowerPoint 演示文稿</vt:lpstr>
      <vt:lpstr>PowerPoint 演示文稿</vt:lpstr>
      <vt:lpstr>PowerPoint 演示文稿</vt:lpstr>
      <vt:lpstr>SpringBoot + Echarts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Xgboost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谢谢观看！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大数据技术实践 课堂汇报</dc:title>
  <dc:creator>刘舜</dc:creator>
  <cp:lastModifiedBy>刘舜</cp:lastModifiedBy>
  <cp:revision>66</cp:revision>
  <dcterms:created xsi:type="dcterms:W3CDTF">2026-05-05T09:41:57Z</dcterms:created>
  <dcterms:modified xsi:type="dcterms:W3CDTF">2026-05-27T07:11:08Z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